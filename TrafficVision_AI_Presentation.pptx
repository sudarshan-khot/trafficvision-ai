
<file path=[Content_Types].xml><?xml version="1.0" encoding="utf-8"?>
<Types xmlns="http://schemas.openxmlformats.org/package/2006/content-types"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charts/chart1.xml" ContentType="application/vnd.openxmlformats-officedocument.drawingml.chart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5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13" d="100"/>
          <a:sy n="113" d="100"/>
        </p:scale>
        <p:origin x="586" y="7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mAP50 (COCO val2017)</c:v>
                </c:pt>
              </c:strCache>
            </c:strRef>
          </c:tx>
          <c:spPr>
            <a:solidFill>
              <a:srgbClr val="94A3B8"/>
            </a:solidFill>
            <a:effectLst/>
          </c:spPr>
          <c:invertIfNegative val="0"/>
          <c:dPt>
            <c:idx val="0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1-6D2F-4AD4-B7DD-3A8195BF693F}"/>
              </c:ext>
            </c:extLst>
          </c:dPt>
          <c:dPt>
            <c:idx val="1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3-6D2F-4AD4-B7DD-3A8195BF693F}"/>
              </c:ext>
            </c:extLst>
          </c:dPt>
          <c:dPt>
            <c:idx val="2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5-6D2F-4AD4-B7DD-3A8195BF693F}"/>
              </c:ext>
            </c:extLst>
          </c:dPt>
          <c:dPt>
            <c:idx val="3"/>
            <c:invertIfNegative val="0"/>
            <c:bubble3D val="0"/>
            <c:spPr>
              <a:solidFill>
                <a:srgbClr val="F97316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7-6D2F-4AD4-B7DD-3A8195BF693F}"/>
              </c:ext>
            </c:extLst>
          </c:dPt>
          <c:dPt>
            <c:idx val="4"/>
            <c:invertIfNegative val="0"/>
            <c:bubble3D val="0"/>
            <c:spPr>
              <a:solidFill>
                <a:srgbClr val="14B8A6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9-6D2F-4AD4-B7DD-3A8195BF693F}"/>
              </c:ext>
            </c:extLst>
          </c:dPt>
          <c:dPt>
            <c:idx val="5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B-6D2F-4AD4-B7DD-3A8195BF693F}"/>
              </c:ext>
            </c:extLst>
          </c:dPt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900" b="0" i="0" u="none" strike="noStrike">
                    <a:solidFill>
                      <a:srgbClr val="0F172A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Sheet1!$A$2:$A$7</c:f>
              <c:strCache>
                <c:ptCount val="6"/>
                <c:pt idx="0">
                  <c:v>Faster R-CNN</c:v>
                </c:pt>
                <c:pt idx="1">
                  <c:v>SSD MobileNet</c:v>
                </c:pt>
                <c:pt idx="2">
                  <c:v>YOLOv5m</c:v>
                </c:pt>
                <c:pt idx="3">
                  <c:v>YOLOv8n</c:v>
                </c:pt>
                <c:pt idx="4">
                  <c:v>YOLOv8m</c:v>
                </c:pt>
                <c:pt idx="5">
                  <c:v>RT-DETR-L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37</c:v>
                </c:pt>
                <c:pt idx="1">
                  <c:v>23</c:v>
                </c:pt>
                <c:pt idx="2">
                  <c:v>45.5</c:v>
                </c:pt>
                <c:pt idx="3">
                  <c:v>37.299999999999997</c:v>
                </c:pt>
                <c:pt idx="4">
                  <c:v>50.2</c:v>
                </c:pt>
                <c:pt idx="5">
                  <c:v>53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C-6D2F-4AD4-B7DD-3A8195BF693F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475569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60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475569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F8FAFC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42028202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914400"/>
            <a:ext cx="7772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4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Smart Traffic Violation</a:t>
            </a:r>
            <a:endParaRPr lang="en-US" sz="4400" dirty="0"/>
          </a:p>
        </p:txBody>
      </p:sp>
      <p:sp>
        <p:nvSpPr>
          <p:cNvPr id="5" name="Text 3"/>
          <p:cNvSpPr/>
          <p:nvPr/>
        </p:nvSpPr>
        <p:spPr>
          <a:xfrm>
            <a:off x="502920" y="1664208"/>
            <a:ext cx="77724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800" dirty="0">
                <a:solidFill>
                  <a:srgbClr val="14B8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Detection &amp; Automated Pipeline</a:t>
            </a:r>
            <a:endParaRPr lang="en-US" sz="3800" dirty="0"/>
          </a:p>
        </p:txBody>
      </p:sp>
      <p:sp>
        <p:nvSpPr>
          <p:cNvPr id="6" name="Text 4"/>
          <p:cNvSpPr/>
          <p:nvPr/>
        </p:nvSpPr>
        <p:spPr>
          <a:xfrm>
            <a:off x="502920" y="2514600"/>
            <a:ext cx="7772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i="1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AI-Powered Enforcement  |  Edge-to-Cloud  |  Real-Time OCR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502920" y="2971800"/>
            <a:ext cx="4114800" cy="36576"/>
          </a:xfrm>
          <a:prstGeom prst="rect">
            <a:avLst/>
          </a:prstGeom>
          <a:solidFill>
            <a:srgbClr val="334155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02920" y="3200400"/>
            <a:ext cx="2103120" cy="777240"/>
          </a:xfrm>
          <a:prstGeom prst="rect">
            <a:avLst/>
          </a:prstGeom>
          <a:solidFill>
            <a:srgbClr val="1E293B"/>
          </a:solidFill>
          <a:ln w="6350">
            <a:solidFill>
              <a:srgbClr val="334155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02920" y="3218688"/>
            <a:ext cx="2103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14B8A6"/>
                </a:solidFill>
              </a:rPr>
              <a:t>5</a:t>
            </a:r>
            <a:endParaRPr lang="en-US" sz="2400" dirty="0"/>
          </a:p>
        </p:txBody>
      </p:sp>
      <p:sp>
        <p:nvSpPr>
          <p:cNvPr id="10" name="Text 8"/>
          <p:cNvSpPr/>
          <p:nvPr/>
        </p:nvSpPr>
        <p:spPr>
          <a:xfrm>
            <a:off x="502920" y="3566160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00" dirty="0">
                <a:solidFill>
                  <a:srgbClr val="94A3B8"/>
                </a:solidFill>
              </a:rPr>
              <a:t>Violation Types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2880360" y="3200400"/>
            <a:ext cx="2103120" cy="777240"/>
          </a:xfrm>
          <a:prstGeom prst="rect">
            <a:avLst/>
          </a:prstGeom>
          <a:solidFill>
            <a:srgbClr val="1E293B"/>
          </a:solidFill>
          <a:ln w="6350">
            <a:solidFill>
              <a:srgbClr val="334155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880360" y="3218688"/>
            <a:ext cx="2103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14B8A6"/>
                </a:solidFill>
              </a:rPr>
              <a:t>2</a:t>
            </a:r>
            <a:endParaRPr lang="en-US" sz="2400" dirty="0"/>
          </a:p>
        </p:txBody>
      </p:sp>
      <p:sp>
        <p:nvSpPr>
          <p:cNvPr id="13" name="Text 11"/>
          <p:cNvSpPr/>
          <p:nvPr/>
        </p:nvSpPr>
        <p:spPr>
          <a:xfrm>
            <a:off x="2880360" y="3566160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00" dirty="0">
                <a:solidFill>
                  <a:srgbClr val="94A3B8"/>
                </a:solidFill>
              </a:rPr>
              <a:t>YOLO Models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5257800" y="3200400"/>
            <a:ext cx="2103120" cy="777240"/>
          </a:xfrm>
          <a:prstGeom prst="rect">
            <a:avLst/>
          </a:prstGeom>
          <a:solidFill>
            <a:srgbClr val="1E293B"/>
          </a:solidFill>
          <a:ln w="6350">
            <a:solidFill>
              <a:srgbClr val="334155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257800" y="3218688"/>
            <a:ext cx="2103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14B8A6"/>
                </a:solidFill>
              </a:rPr>
              <a:t>HSRP</a:t>
            </a:r>
            <a:endParaRPr lang="en-US" sz="2400" dirty="0"/>
          </a:p>
        </p:txBody>
      </p:sp>
      <p:sp>
        <p:nvSpPr>
          <p:cNvPr id="16" name="Text 14"/>
          <p:cNvSpPr/>
          <p:nvPr/>
        </p:nvSpPr>
        <p:spPr>
          <a:xfrm>
            <a:off x="5257800" y="3566160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00" dirty="0">
                <a:solidFill>
                  <a:srgbClr val="94A3B8"/>
                </a:solidFill>
              </a:rPr>
              <a:t>OCR Format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6858000" y="4480560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i="1" dirty="0">
                <a:solidFill>
                  <a:srgbClr val="334155"/>
                </a:solidFill>
              </a:rPr>
              <a:t>TrafficVision AI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274320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What We'll Cover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365760" y="804672"/>
            <a:ext cx="8412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i="1" dirty="0">
                <a:solidFill>
                  <a:srgbClr val="94A3B8"/>
                </a:solidFill>
              </a:rPr>
              <a:t>A deep-dive into every layer of the TrafficVision AI system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365760" y="1234440"/>
            <a:ext cx="4160520" cy="530352"/>
          </a:xfrm>
          <a:prstGeom prst="rect">
            <a:avLst/>
          </a:prstGeom>
          <a:solidFill>
            <a:srgbClr val="1E293B"/>
          </a:solidFill>
          <a:ln w="6350">
            <a:solidFill>
              <a:srgbClr val="334155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65760" y="1234440"/>
            <a:ext cx="64008" cy="530352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02920" y="1234440"/>
            <a:ext cx="4114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14B8A6"/>
                </a:solidFill>
              </a:rPr>
              <a:t>01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914400" y="1271016"/>
            <a:ext cx="3520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FFFFFF"/>
                </a:solidFill>
              </a:rPr>
              <a:t>System Architecture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914400" y="1508760"/>
            <a:ext cx="3520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94A3B8"/>
                </a:solidFill>
              </a:rPr>
              <a:t>Vercel · Render · Cloudflare R2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365760" y="1856232"/>
            <a:ext cx="4160520" cy="530352"/>
          </a:xfrm>
          <a:prstGeom prst="rect">
            <a:avLst/>
          </a:prstGeom>
          <a:solidFill>
            <a:srgbClr val="1E293B"/>
          </a:solidFill>
          <a:ln w="6350">
            <a:solidFill>
              <a:srgbClr val="334155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65760" y="1856232"/>
            <a:ext cx="64008" cy="530352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02920" y="1856232"/>
            <a:ext cx="4114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14B8A6"/>
                </a:solidFill>
              </a:rPr>
              <a:t>02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914400" y="1892808"/>
            <a:ext cx="3520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FFFFFF"/>
                </a:solidFill>
              </a:rPr>
              <a:t>Model 1: Vehicle Detection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914400" y="2130552"/>
            <a:ext cx="3520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94A3B8"/>
                </a:solidFill>
              </a:rPr>
              <a:t>YOLOv8m — SOTA metrics &amp; rationale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365760" y="2478024"/>
            <a:ext cx="4160520" cy="530352"/>
          </a:xfrm>
          <a:prstGeom prst="rect">
            <a:avLst/>
          </a:prstGeom>
          <a:solidFill>
            <a:srgbClr val="1E293B"/>
          </a:solidFill>
          <a:ln w="6350">
            <a:solidFill>
              <a:srgbClr val="334155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365760" y="2478024"/>
            <a:ext cx="64008" cy="530352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02920" y="2478024"/>
            <a:ext cx="4114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14B8A6"/>
                </a:solidFill>
              </a:rPr>
              <a:t>03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914400" y="2514600"/>
            <a:ext cx="3520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FFFFFF"/>
                </a:solidFill>
              </a:rPr>
              <a:t>Model 2: Safety Compliance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914400" y="2752344"/>
            <a:ext cx="3520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94A3B8"/>
                </a:solidFill>
              </a:rPr>
              <a:t>YOLOv8n — Helmet &amp; Triple Riding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365760" y="3099816"/>
            <a:ext cx="4160520" cy="530352"/>
          </a:xfrm>
          <a:prstGeom prst="rect">
            <a:avLst/>
          </a:prstGeom>
          <a:solidFill>
            <a:srgbClr val="1E293B"/>
          </a:solidFill>
          <a:ln w="6350">
            <a:solidFill>
              <a:srgbClr val="334155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365760" y="3099816"/>
            <a:ext cx="64008" cy="530352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02920" y="3099816"/>
            <a:ext cx="4114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14B8A6"/>
                </a:solidFill>
              </a:rPr>
              <a:t>04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914400" y="3136392"/>
            <a:ext cx="3520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FFFFFF"/>
                </a:solidFill>
              </a:rPr>
              <a:t>Physics-Based CV Logic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914400" y="3374136"/>
            <a:ext cx="3520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94A3B8"/>
                </a:solidFill>
              </a:rPr>
              <a:t>Optical Flow · ROI · Virtual Sensors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365760" y="3721608"/>
            <a:ext cx="4160520" cy="530352"/>
          </a:xfrm>
          <a:prstGeom prst="rect">
            <a:avLst/>
          </a:prstGeom>
          <a:solidFill>
            <a:srgbClr val="1E293B"/>
          </a:solidFill>
          <a:ln w="6350">
            <a:solidFill>
              <a:srgbClr val="334155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365760" y="3721608"/>
            <a:ext cx="64008" cy="530352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02920" y="3721608"/>
            <a:ext cx="4114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14B8A6"/>
                </a:solidFill>
              </a:rPr>
              <a:t>05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914400" y="3758184"/>
            <a:ext cx="3520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FFFFFF"/>
                </a:solidFill>
              </a:rPr>
              <a:t>OCR Pipeline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914400" y="3995928"/>
            <a:ext cx="3520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94A3B8"/>
                </a:solidFill>
              </a:rPr>
              <a:t>PaddleOCR · Real-ESRGAN · HSRP format</a:t>
            </a:r>
            <a:endParaRPr lang="en-US" sz="950" dirty="0"/>
          </a:p>
        </p:txBody>
      </p:sp>
      <p:sp>
        <p:nvSpPr>
          <p:cNvPr id="30" name="Shape 28"/>
          <p:cNvSpPr/>
          <p:nvPr/>
        </p:nvSpPr>
        <p:spPr>
          <a:xfrm>
            <a:off x="365760" y="4343400"/>
            <a:ext cx="4160520" cy="530352"/>
          </a:xfrm>
          <a:prstGeom prst="rect">
            <a:avLst/>
          </a:prstGeom>
          <a:solidFill>
            <a:srgbClr val="1E293B"/>
          </a:solidFill>
          <a:ln w="6350">
            <a:solidFill>
              <a:srgbClr val="334155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365760" y="4343400"/>
            <a:ext cx="64008" cy="530352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502920" y="4343400"/>
            <a:ext cx="4114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14B8A6"/>
                </a:solidFill>
              </a:rPr>
              <a:t>06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914400" y="4379976"/>
            <a:ext cx="3520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FFFFFF"/>
                </a:solidFill>
              </a:rPr>
              <a:t>End-to-End Pipeline Flow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914400" y="4617720"/>
            <a:ext cx="3520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94A3B8"/>
                </a:solidFill>
              </a:rPr>
              <a:t>From frame capture to violation record</a:t>
            </a:r>
            <a:endParaRPr lang="en-US" sz="950" dirty="0"/>
          </a:p>
        </p:txBody>
      </p:sp>
      <p:sp>
        <p:nvSpPr>
          <p:cNvPr id="35" name="Shape 33"/>
          <p:cNvSpPr/>
          <p:nvPr/>
        </p:nvSpPr>
        <p:spPr>
          <a:xfrm>
            <a:off x="4800600" y="1234440"/>
            <a:ext cx="4160520" cy="530352"/>
          </a:xfrm>
          <a:prstGeom prst="rect">
            <a:avLst/>
          </a:prstGeom>
          <a:solidFill>
            <a:srgbClr val="1E293B"/>
          </a:solidFill>
          <a:ln w="6350">
            <a:solidFill>
              <a:srgbClr val="334155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4800600" y="1234440"/>
            <a:ext cx="64008" cy="530352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4937760" y="1234440"/>
            <a:ext cx="4114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14B8A6"/>
                </a:solidFill>
              </a:rPr>
              <a:t>07</a:t>
            </a:r>
            <a:endParaRPr lang="en-US" sz="1200" dirty="0"/>
          </a:p>
        </p:txBody>
      </p:sp>
      <p:sp>
        <p:nvSpPr>
          <p:cNvPr id="38" name="Text 36"/>
          <p:cNvSpPr/>
          <p:nvPr/>
        </p:nvSpPr>
        <p:spPr>
          <a:xfrm>
            <a:off x="5349240" y="1271016"/>
            <a:ext cx="3520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FFFFFF"/>
                </a:solidFill>
              </a:rPr>
              <a:t>Deployment &amp; Storage</a:t>
            </a:r>
            <a:endParaRPr lang="en-US" sz="1200" dirty="0"/>
          </a:p>
        </p:txBody>
      </p:sp>
      <p:sp>
        <p:nvSpPr>
          <p:cNvPr id="39" name="Text 37"/>
          <p:cNvSpPr/>
          <p:nvPr/>
        </p:nvSpPr>
        <p:spPr>
          <a:xfrm>
            <a:off x="5349240" y="1508760"/>
            <a:ext cx="3520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94A3B8"/>
                </a:solidFill>
              </a:rPr>
              <a:t>Docker · PostgreSQL · Cloudflare R2</a:t>
            </a:r>
            <a:endParaRPr lang="en-US" sz="950" dirty="0"/>
          </a:p>
        </p:txBody>
      </p:sp>
      <p:sp>
        <p:nvSpPr>
          <p:cNvPr id="40" name="Shape 38"/>
          <p:cNvSpPr/>
          <p:nvPr/>
        </p:nvSpPr>
        <p:spPr>
          <a:xfrm>
            <a:off x="4800600" y="1856232"/>
            <a:ext cx="4160520" cy="530352"/>
          </a:xfrm>
          <a:prstGeom prst="rect">
            <a:avLst/>
          </a:prstGeom>
          <a:solidFill>
            <a:srgbClr val="1E293B"/>
          </a:solidFill>
          <a:ln w="6350">
            <a:solidFill>
              <a:srgbClr val="334155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4800600" y="1856232"/>
            <a:ext cx="64008" cy="530352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4937760" y="1856232"/>
            <a:ext cx="4114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14B8A6"/>
                </a:solidFill>
              </a:rPr>
              <a:t>08</a:t>
            </a:r>
            <a:endParaRPr lang="en-US" sz="1200" dirty="0"/>
          </a:p>
        </p:txBody>
      </p:sp>
      <p:sp>
        <p:nvSpPr>
          <p:cNvPr id="43" name="Text 41"/>
          <p:cNvSpPr/>
          <p:nvPr/>
        </p:nvSpPr>
        <p:spPr>
          <a:xfrm>
            <a:off x="5349240" y="1892808"/>
            <a:ext cx="3520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FFFFFF"/>
                </a:solidFill>
              </a:rPr>
              <a:t>Live-Stream Integration</a:t>
            </a:r>
            <a:endParaRPr lang="en-US" sz="1200" dirty="0"/>
          </a:p>
        </p:txBody>
      </p:sp>
      <p:sp>
        <p:nvSpPr>
          <p:cNvPr id="44" name="Text 42"/>
          <p:cNvSpPr/>
          <p:nvPr/>
        </p:nvSpPr>
        <p:spPr>
          <a:xfrm>
            <a:off x="5349240" y="2130552"/>
            <a:ext cx="3520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94A3B8"/>
                </a:solidFill>
              </a:rPr>
              <a:t>RTSP/RTMP · NVIDIA Jetson · GStreamer</a:t>
            </a:r>
            <a:endParaRPr lang="en-US" sz="950" dirty="0"/>
          </a:p>
        </p:txBody>
      </p:sp>
      <p:sp>
        <p:nvSpPr>
          <p:cNvPr id="45" name="Shape 43"/>
          <p:cNvSpPr/>
          <p:nvPr/>
        </p:nvSpPr>
        <p:spPr>
          <a:xfrm>
            <a:off x="4800600" y="2478024"/>
            <a:ext cx="4160520" cy="530352"/>
          </a:xfrm>
          <a:prstGeom prst="rect">
            <a:avLst/>
          </a:prstGeom>
          <a:solidFill>
            <a:srgbClr val="1E293B"/>
          </a:solidFill>
          <a:ln w="6350">
            <a:solidFill>
              <a:srgbClr val="334155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4800600" y="2478024"/>
            <a:ext cx="64008" cy="530352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4937760" y="2478024"/>
            <a:ext cx="4114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14B8A6"/>
                </a:solidFill>
              </a:rPr>
              <a:t>09</a:t>
            </a:r>
            <a:endParaRPr lang="en-US" sz="1200" dirty="0"/>
          </a:p>
        </p:txBody>
      </p:sp>
      <p:sp>
        <p:nvSpPr>
          <p:cNvPr id="48" name="Text 46"/>
          <p:cNvSpPr/>
          <p:nvPr/>
        </p:nvSpPr>
        <p:spPr>
          <a:xfrm>
            <a:off x="5349240" y="2514600"/>
            <a:ext cx="3520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FFFFFF"/>
                </a:solidFill>
              </a:rPr>
              <a:t>Async &amp; Auto-Scaling</a:t>
            </a:r>
            <a:endParaRPr lang="en-US" sz="1200" dirty="0"/>
          </a:p>
        </p:txBody>
      </p:sp>
      <p:sp>
        <p:nvSpPr>
          <p:cNvPr id="49" name="Text 47"/>
          <p:cNvSpPr/>
          <p:nvPr/>
        </p:nvSpPr>
        <p:spPr>
          <a:xfrm>
            <a:off x="5349240" y="2752344"/>
            <a:ext cx="3520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94A3B8"/>
                </a:solidFill>
              </a:rPr>
              <a:t>Kafka · RabbitMQ · K8s workers</a:t>
            </a:r>
            <a:endParaRPr lang="en-US" sz="950" dirty="0"/>
          </a:p>
        </p:txBody>
      </p:sp>
      <p:sp>
        <p:nvSpPr>
          <p:cNvPr id="50" name="Shape 48"/>
          <p:cNvSpPr/>
          <p:nvPr/>
        </p:nvSpPr>
        <p:spPr>
          <a:xfrm>
            <a:off x="4800600" y="3099816"/>
            <a:ext cx="4160520" cy="530352"/>
          </a:xfrm>
          <a:prstGeom prst="rect">
            <a:avLst/>
          </a:prstGeom>
          <a:solidFill>
            <a:srgbClr val="1E293B"/>
          </a:solidFill>
          <a:ln w="6350">
            <a:solidFill>
              <a:srgbClr val="334155"/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4800600" y="3099816"/>
            <a:ext cx="64008" cy="530352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4937760" y="3099816"/>
            <a:ext cx="4114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14B8A6"/>
                </a:solidFill>
              </a:rPr>
              <a:t>10</a:t>
            </a:r>
            <a:endParaRPr lang="en-US" sz="1200" dirty="0"/>
          </a:p>
        </p:txBody>
      </p:sp>
      <p:sp>
        <p:nvSpPr>
          <p:cNvPr id="53" name="Text 51"/>
          <p:cNvSpPr/>
          <p:nvPr/>
        </p:nvSpPr>
        <p:spPr>
          <a:xfrm>
            <a:off x="5349240" y="3136392"/>
            <a:ext cx="3520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FFFFFF"/>
                </a:solidFill>
              </a:rPr>
              <a:t>Why YOLO? Why These Versions?</a:t>
            </a:r>
            <a:endParaRPr lang="en-US" sz="1200" dirty="0"/>
          </a:p>
        </p:txBody>
      </p:sp>
      <p:sp>
        <p:nvSpPr>
          <p:cNvPr id="54" name="Text 52"/>
          <p:cNvSpPr/>
          <p:nvPr/>
        </p:nvSpPr>
        <p:spPr>
          <a:xfrm>
            <a:off x="5349240" y="3374136"/>
            <a:ext cx="3520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94A3B8"/>
                </a:solidFill>
              </a:rPr>
              <a:t>Speed · Accuracy · Deployment trade-offs</a:t>
            </a:r>
            <a:endParaRPr lang="en-US" sz="950" dirty="0"/>
          </a:p>
        </p:txBody>
      </p:sp>
      <p:sp>
        <p:nvSpPr>
          <p:cNvPr id="55" name="Shape 53"/>
          <p:cNvSpPr/>
          <p:nvPr/>
        </p:nvSpPr>
        <p:spPr>
          <a:xfrm>
            <a:off x="4800600" y="3721608"/>
            <a:ext cx="4160520" cy="530352"/>
          </a:xfrm>
          <a:prstGeom prst="rect">
            <a:avLst/>
          </a:prstGeom>
          <a:solidFill>
            <a:srgbClr val="1E293B"/>
          </a:solidFill>
          <a:ln w="6350">
            <a:solidFill>
              <a:srgbClr val="334155"/>
            </a:solidFill>
            <a:prstDash val="solid"/>
          </a:ln>
        </p:spPr>
      </p:sp>
      <p:sp>
        <p:nvSpPr>
          <p:cNvPr id="56" name="Shape 54"/>
          <p:cNvSpPr/>
          <p:nvPr/>
        </p:nvSpPr>
        <p:spPr>
          <a:xfrm>
            <a:off x="4800600" y="3721608"/>
            <a:ext cx="64008" cy="530352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4937760" y="3721608"/>
            <a:ext cx="4114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14B8A6"/>
                </a:solidFill>
              </a:rPr>
              <a:t>11</a:t>
            </a:r>
            <a:endParaRPr lang="en-US" sz="1200" dirty="0"/>
          </a:p>
        </p:txBody>
      </p:sp>
      <p:sp>
        <p:nvSpPr>
          <p:cNvPr id="58" name="Text 56"/>
          <p:cNvSpPr/>
          <p:nvPr/>
        </p:nvSpPr>
        <p:spPr>
          <a:xfrm>
            <a:off x="5349240" y="3758184"/>
            <a:ext cx="3520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FFFFFF"/>
                </a:solidFill>
              </a:rPr>
              <a:t>Scaling Roadmap</a:t>
            </a:r>
            <a:endParaRPr lang="en-US" sz="1200" dirty="0"/>
          </a:p>
        </p:txBody>
      </p:sp>
      <p:sp>
        <p:nvSpPr>
          <p:cNvPr id="59" name="Text 57"/>
          <p:cNvSpPr/>
          <p:nvPr/>
        </p:nvSpPr>
        <p:spPr>
          <a:xfrm>
            <a:off x="5349240" y="3995928"/>
            <a:ext cx="3520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94A3B8"/>
                </a:solidFill>
              </a:rPr>
              <a:t>Edge-Cloud hybrid vision</a:t>
            </a:r>
            <a:endParaRPr lang="en-US" sz="9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09728" cy="685800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28600" y="0"/>
            <a:ext cx="8686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01  |  System Architecture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274320" y="868680"/>
            <a:ext cx="2743200" cy="402336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74320" y="868680"/>
            <a:ext cx="2743200" cy="502920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74320" y="868680"/>
            <a:ext cx="2743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FRONTEND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274320" y="1115568"/>
            <a:ext cx="2743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FFFFFF"/>
                </a:solidFill>
              </a:rPr>
              <a:t>Vercel (CDN)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411480" y="1463040"/>
            <a:ext cx="246888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50" dirty="0">
                <a:solidFill>
                  <a:srgbClr val="475569"/>
                </a:solidFill>
              </a:rPr>
              <a:t>React + TypeScript + Vite</a:t>
            </a:r>
            <a:endParaRPr lang="en-US" sz="1150" dirty="0"/>
          </a:p>
          <a:p>
            <a:pPr marL="0" indent="0" algn="l">
              <a:buNone/>
            </a:pPr>
            <a:r>
              <a:rPr lang="en-US" sz="1150" dirty="0">
                <a:solidFill>
                  <a:srgbClr val="475569"/>
                </a:solidFill>
              </a:rPr>
              <a:t>Static hosting via Vercel Edge Network</a:t>
            </a:r>
            <a:endParaRPr lang="en-US" sz="1150" dirty="0"/>
          </a:p>
          <a:p>
            <a:pPr marL="0" indent="0" algn="l">
              <a:buNone/>
            </a:pPr>
            <a:r>
              <a:rPr lang="en-US" sz="1150" dirty="0">
                <a:solidFill>
                  <a:srgbClr val="475569"/>
                </a:solidFill>
              </a:rPr>
              <a:t>CORS origin: localhost:5173 (dev)</a:t>
            </a:r>
            <a:endParaRPr lang="en-US" sz="1150" dirty="0"/>
          </a:p>
          <a:p>
            <a:pPr marL="0" indent="0" algn="l">
              <a:buNone/>
            </a:pPr>
            <a:r>
              <a:rPr lang="en-US" sz="1150" dirty="0">
                <a:solidFill>
                  <a:srgbClr val="475569"/>
                </a:solidFill>
              </a:rPr>
              <a:t>Real-time dashboard &amp; violation review UI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3200400" y="868680"/>
            <a:ext cx="2743200" cy="402336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200400" y="868680"/>
            <a:ext cx="2743200" cy="502920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200400" y="868680"/>
            <a:ext cx="2743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BACKEND / ML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3200400" y="1115568"/>
            <a:ext cx="2743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FFFFFF"/>
                </a:solidFill>
              </a:rPr>
              <a:t>Render (Cloud PaaS)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3337560" y="1463040"/>
            <a:ext cx="246888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50" dirty="0">
                <a:solidFill>
                  <a:srgbClr val="475569"/>
                </a:solidFill>
              </a:rPr>
              <a:t>FastAPI + Uvicorn (async)</a:t>
            </a:r>
            <a:endParaRPr lang="en-US" sz="1150" dirty="0"/>
          </a:p>
          <a:p>
            <a:pPr marL="0" indent="0" algn="l">
              <a:buNone/>
            </a:pPr>
            <a:r>
              <a:rPr lang="en-US" sz="1150" dirty="0">
                <a:solidFill>
                  <a:srgbClr val="475569"/>
                </a:solidFill>
              </a:rPr>
              <a:t>YOLOv8m + YOLOv8n inference</a:t>
            </a:r>
            <a:endParaRPr lang="en-US" sz="1150" dirty="0"/>
          </a:p>
          <a:p>
            <a:pPr marL="0" indent="0" algn="l">
              <a:buNone/>
            </a:pPr>
            <a:r>
              <a:rPr lang="en-US" sz="1150" dirty="0">
                <a:solidFill>
                  <a:srgbClr val="475569"/>
                </a:solidFill>
              </a:rPr>
              <a:t>PaddleOCR pipeline</a:t>
            </a:r>
            <a:endParaRPr lang="en-US" sz="1150" dirty="0"/>
          </a:p>
          <a:p>
            <a:pPr marL="0" indent="0" algn="l">
              <a:buNone/>
            </a:pPr>
            <a:r>
              <a:rPr lang="en-US" sz="1150" dirty="0">
                <a:solidFill>
                  <a:srgbClr val="475569"/>
                </a:solidFill>
              </a:rPr>
              <a:t>Alembic migrations · PostgreSQL 16 (async)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6126480" y="868680"/>
            <a:ext cx="2743200" cy="402336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6126480" y="868680"/>
            <a:ext cx="2743200" cy="50292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126480" y="868680"/>
            <a:ext cx="2743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OBJECT STORAGE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6126480" y="1115568"/>
            <a:ext cx="2743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FFFFFF"/>
                </a:solidFill>
              </a:rPr>
              <a:t>Cloudflare R2 (S3-compat.)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6263640" y="1463040"/>
            <a:ext cx="246888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50" dirty="0">
                <a:solidFill>
                  <a:srgbClr val="475569"/>
                </a:solidFill>
              </a:rPr>
              <a:t>Zero-egress fee architecture</a:t>
            </a:r>
            <a:endParaRPr lang="en-US" sz="1150" dirty="0"/>
          </a:p>
          <a:p>
            <a:pPr marL="0" indent="0" algn="l">
              <a:buNone/>
            </a:pPr>
            <a:r>
              <a:rPr lang="en-US" sz="1150" dirty="0">
                <a:solidFill>
                  <a:srgbClr val="475569"/>
                </a:solidFill>
              </a:rPr>
              <a:t>S3-compatible MinIO SDK client</a:t>
            </a:r>
            <a:endParaRPr lang="en-US" sz="1150" dirty="0"/>
          </a:p>
          <a:p>
            <a:pPr marL="0" indent="0" algn="l">
              <a:buNone/>
            </a:pPr>
            <a:r>
              <a:rPr lang="en-US" sz="1150" dirty="0">
                <a:solidFill>
                  <a:srgbClr val="475569"/>
                </a:solidFill>
              </a:rPr>
              <a:t>Stores violation image crops</a:t>
            </a:r>
            <a:endParaRPr lang="en-US" sz="1150" dirty="0"/>
          </a:p>
          <a:p>
            <a:pPr marL="0" indent="0" algn="l">
              <a:buNone/>
            </a:pPr>
            <a:r>
              <a:rPr lang="en-US" sz="1150" dirty="0">
                <a:solidFill>
                  <a:srgbClr val="475569"/>
                </a:solidFill>
              </a:rPr>
              <a:t>Public endpoint for dashboard previews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3035808" y="2743200"/>
            <a:ext cx="146304" cy="36576"/>
          </a:xfrm>
          <a:prstGeom prst="rect">
            <a:avLst/>
          </a:prstGeom>
          <a:solidFill>
            <a:srgbClr val="94A3B8"/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5961888" y="2743200"/>
            <a:ext cx="146304" cy="36576"/>
          </a:xfrm>
          <a:prstGeom prst="rect">
            <a:avLst/>
          </a:prstGeom>
          <a:solidFill>
            <a:srgbClr val="94A3B8"/>
          </a:solidFill>
          <a:ln w="12700">
            <a:solidFill>
              <a:srgbClr val="94A3B8"/>
            </a:solidFill>
            <a:prstDash val="solid"/>
          </a:ln>
        </p:spPr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09728" cy="685800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28600" y="0"/>
            <a:ext cx="8686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9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02  |  Model 1 — Vehicle Detection &amp; Classification  (YOLOv8m)</a:t>
            </a:r>
            <a:endParaRPr lang="en-US" sz="1900" dirty="0"/>
          </a:p>
        </p:txBody>
      </p:sp>
      <p:sp>
        <p:nvSpPr>
          <p:cNvPr id="5" name="Shape 3"/>
          <p:cNvSpPr/>
          <p:nvPr/>
        </p:nvSpPr>
        <p:spPr>
          <a:xfrm>
            <a:off x="274320" y="822960"/>
            <a:ext cx="4023360" cy="411480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74320" y="822960"/>
            <a:ext cx="64008" cy="4114800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896112"/>
            <a:ext cx="3749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F172A"/>
                </a:solidFill>
              </a:rPr>
              <a:t>Architecture Overview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457200" y="1234440"/>
            <a:ext cx="3749040" cy="3520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50" b="1" dirty="0">
                <a:solidFill>
                  <a:srgbClr val="475569"/>
                </a:solidFill>
              </a:rPr>
              <a:t>Base Model: </a:t>
            </a:r>
            <a:r>
              <a:rPr lang="en-US" sz="1150" dirty="0">
                <a:solidFill>
                  <a:srgbClr val="475569"/>
                </a:solidFill>
              </a:rPr>
              <a:t>YOLOv8m (Medium variant, 25.9M params)
</a:t>
            </a:r>
            <a:endParaRPr lang="en-US" sz="1150" dirty="0"/>
          </a:p>
          <a:p>
            <a:pPr marL="0" indent="0" algn="l">
              <a:buNone/>
            </a:pPr>
            <a:r>
              <a:rPr lang="en-US" sz="1150" b="1" dirty="0">
                <a:solidFill>
                  <a:srgbClr val="475569"/>
                </a:solidFill>
              </a:rPr>
              <a:t>Input Size: </a:t>
            </a:r>
            <a:r>
              <a:rPr lang="en-US" sz="1150" dirty="0">
                <a:solidFill>
                  <a:srgbClr val="475569"/>
                </a:solidFill>
              </a:rPr>
              <a:t>640 × 640 px (fixed)
</a:t>
            </a:r>
            <a:endParaRPr lang="en-US" sz="1150" dirty="0"/>
          </a:p>
          <a:p>
            <a:pPr marL="0" indent="0" algn="l">
              <a:buNone/>
            </a:pPr>
            <a:r>
              <a:rPr lang="en-US" sz="1150" b="1" dirty="0">
                <a:solidFill>
                  <a:srgbClr val="475569"/>
                </a:solidFill>
              </a:rPr>
              <a:t>Backbone: </a:t>
            </a:r>
            <a:r>
              <a:rPr lang="en-US" sz="1150" dirty="0">
                <a:solidFill>
                  <a:srgbClr val="475569"/>
                </a:solidFill>
              </a:rPr>
              <a:t>CSP Darknet with C2f modules
</a:t>
            </a:r>
            <a:endParaRPr lang="en-US" sz="1150" dirty="0"/>
          </a:p>
          <a:p>
            <a:pPr marL="0" indent="0" algn="l">
              <a:buNone/>
            </a:pPr>
            <a:r>
              <a:rPr lang="en-US" sz="1150" b="1" dirty="0">
                <a:solidFill>
                  <a:srgbClr val="475569"/>
                </a:solidFill>
              </a:rPr>
              <a:t>Neck: </a:t>
            </a:r>
            <a:r>
              <a:rPr lang="en-US" sz="1150" dirty="0">
                <a:solidFill>
                  <a:srgbClr val="475569"/>
                </a:solidFill>
              </a:rPr>
              <a:t>PANet feature pyramid network
</a:t>
            </a:r>
            <a:endParaRPr lang="en-US" sz="1150" dirty="0"/>
          </a:p>
          <a:p>
            <a:pPr marL="0" indent="0" algn="l">
              <a:buNone/>
            </a:pPr>
            <a:r>
              <a:rPr lang="en-US" sz="1150" b="1" dirty="0">
                <a:solidFill>
                  <a:srgbClr val="475569"/>
                </a:solidFill>
              </a:rPr>
              <a:t>Head: </a:t>
            </a:r>
            <a:r>
              <a:rPr lang="en-US" sz="1150" dirty="0">
                <a:solidFill>
                  <a:srgbClr val="475569"/>
                </a:solidFill>
              </a:rPr>
              <a:t>Decoupled detection head (anchor-free)
</a:t>
            </a:r>
            <a:endParaRPr lang="en-US" sz="1150" dirty="0"/>
          </a:p>
          <a:p>
            <a:pPr marL="0" indent="0" algn="l">
              <a:buNone/>
            </a:pPr>
            <a:r>
              <a:rPr lang="en-US" sz="1150" b="1" dirty="0">
                <a:solidFill>
                  <a:srgbClr val="475569"/>
                </a:solidFill>
              </a:rPr>
              <a:t>Runtime: </a:t>
            </a:r>
            <a:r>
              <a:rPr lang="en-US" sz="1150" dirty="0">
                <a:solidFill>
                  <a:srgbClr val="475569"/>
                </a:solidFill>
              </a:rPr>
              <a:t>Dual mode — ONNX Runtime (production) / PyTorch (fallback)
</a:t>
            </a:r>
            <a:endParaRPr lang="en-US" sz="1150" dirty="0"/>
          </a:p>
          <a:p>
            <a:pPr marL="0" indent="0" algn="l">
              <a:buNone/>
            </a:pPr>
            <a:r>
              <a:rPr lang="en-US" sz="1150" b="1" dirty="0">
                <a:solidFill>
                  <a:srgbClr val="475569"/>
                </a:solidFill>
              </a:rPr>
              <a:t>Conf threshold: </a:t>
            </a:r>
            <a:r>
              <a:rPr lang="en-US" sz="1150" dirty="0">
                <a:solidFill>
                  <a:srgbClr val="475569"/>
                </a:solidFill>
              </a:rPr>
              <a:t>0.25 · IoU NMS: 0.45
</a:t>
            </a:r>
            <a:endParaRPr lang="en-US" sz="1150" dirty="0"/>
          </a:p>
          <a:p>
            <a:pPr marL="0" indent="0" algn="l">
              <a:buNone/>
            </a:pPr>
            <a:r>
              <a:rPr lang="en-US" sz="1150" b="1" dirty="0">
                <a:solidFill>
                  <a:srgbClr val="475569"/>
                </a:solidFill>
              </a:rPr>
              <a:t>Classes Detected: </a:t>
            </a:r>
            <a:r>
              <a:rPr lang="en-US" sz="1150" dirty="0">
                <a:solidFill>
                  <a:srgbClr val="475569"/>
                </a:solidFill>
              </a:rPr>
              <a:t>motorcycle, car, truck, bus, person, number_plate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4572000" y="822960"/>
            <a:ext cx="4297680" cy="411480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572000" y="822960"/>
            <a:ext cx="64008" cy="4114800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754880" y="896112"/>
            <a:ext cx="3931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F172A"/>
                </a:solidFill>
              </a:rPr>
              <a:t>SOTA Performance Metrics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4709160" y="1261872"/>
            <a:ext cx="3977640" cy="475488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800600" y="1335024"/>
            <a:ext cx="26517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475569"/>
                </a:solidFill>
              </a:rPr>
              <a:t>mAP50 (COCO val2017)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7315200" y="1335024"/>
            <a:ext cx="12801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400" b="1" dirty="0">
                <a:solidFill>
                  <a:srgbClr val="14B8A6"/>
                </a:solidFill>
              </a:rPr>
              <a:t>50.2%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4709160" y="1837944"/>
            <a:ext cx="3977640" cy="475488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800600" y="1911096"/>
            <a:ext cx="26517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475569"/>
                </a:solidFill>
              </a:rPr>
              <a:t>mAP50-95 (COCO val2017)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7315200" y="1911096"/>
            <a:ext cx="12801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400" b="1" dirty="0">
                <a:solidFill>
                  <a:srgbClr val="14B8A6"/>
                </a:solidFill>
              </a:rPr>
              <a:t>63.1%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4709160" y="2414016"/>
            <a:ext cx="3977640" cy="475488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800600" y="2487168"/>
            <a:ext cx="26517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475569"/>
                </a:solidFill>
              </a:rPr>
              <a:t>Speed (A100 TensorRT)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7315200" y="2487168"/>
            <a:ext cx="12801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400" b="1" dirty="0">
                <a:solidFill>
                  <a:srgbClr val="10B981"/>
                </a:solidFill>
              </a:rPr>
              <a:t>1.83 ms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4709160" y="2990088"/>
            <a:ext cx="3977640" cy="475488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800600" y="3063240"/>
            <a:ext cx="26517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475569"/>
                </a:solidFill>
              </a:rPr>
              <a:t>Speed (CPU ONNX)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7315200" y="3063240"/>
            <a:ext cx="12801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400" b="1" dirty="0">
                <a:solidFill>
                  <a:srgbClr val="F97316"/>
                </a:solidFill>
              </a:rPr>
              <a:t>67.2 ms</a:t>
            </a:r>
            <a:endParaRPr lang="en-US" sz="1400" dirty="0"/>
          </a:p>
        </p:txBody>
      </p:sp>
      <p:sp>
        <p:nvSpPr>
          <p:cNvPr id="24" name="Shape 22"/>
          <p:cNvSpPr/>
          <p:nvPr/>
        </p:nvSpPr>
        <p:spPr>
          <a:xfrm>
            <a:off x="4709160" y="3566160"/>
            <a:ext cx="3977640" cy="475488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800600" y="3639312"/>
            <a:ext cx="26517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475569"/>
                </a:solidFill>
              </a:rPr>
              <a:t>Params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7315200" y="3639312"/>
            <a:ext cx="12801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400" b="1" dirty="0">
                <a:solidFill>
                  <a:srgbClr val="475569"/>
                </a:solidFill>
              </a:rPr>
              <a:t>25.9 M</a:t>
            </a:r>
            <a:endParaRPr lang="en-US" sz="1400" dirty="0"/>
          </a:p>
        </p:txBody>
      </p:sp>
      <p:sp>
        <p:nvSpPr>
          <p:cNvPr id="27" name="Shape 25"/>
          <p:cNvSpPr/>
          <p:nvPr/>
        </p:nvSpPr>
        <p:spPr>
          <a:xfrm>
            <a:off x="4709160" y="4142232"/>
            <a:ext cx="3977640" cy="475488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800600" y="4215384"/>
            <a:ext cx="26517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475569"/>
                </a:solidFill>
              </a:rPr>
              <a:t>FLOPs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7315200" y="4215384"/>
            <a:ext cx="12801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400" b="1" dirty="0">
                <a:solidFill>
                  <a:srgbClr val="475569"/>
                </a:solidFill>
              </a:rPr>
              <a:t>78.9 B</a:t>
            </a:r>
            <a:endParaRPr lang="en-US" sz="1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09728" cy="685800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28600" y="0"/>
            <a:ext cx="8686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9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03  |  Model 2 — Safety Compliance  (YOLOv8n Fine-Tuned)</a:t>
            </a:r>
            <a:endParaRPr lang="en-US" sz="1900" dirty="0"/>
          </a:p>
        </p:txBody>
      </p:sp>
      <p:sp>
        <p:nvSpPr>
          <p:cNvPr id="5" name="Shape 3"/>
          <p:cNvSpPr/>
          <p:nvPr/>
        </p:nvSpPr>
        <p:spPr>
          <a:xfrm>
            <a:off x="274320" y="822960"/>
            <a:ext cx="2743200" cy="182880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74320" y="822960"/>
            <a:ext cx="2743200" cy="45720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74320" y="82296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✓  WithHelmet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384048" y="1316736"/>
            <a:ext cx="2523744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00" dirty="0">
                <a:solidFill>
                  <a:srgbClr val="475569"/>
                </a:solidFill>
              </a:rPr>
              <a:t>Rider detected wearing a certified helmet. Bounding box mapped back to original frame coords. No violation flagged.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154680" y="822960"/>
            <a:ext cx="2743200" cy="182880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154680" y="822960"/>
            <a:ext cx="2743200" cy="457200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154680" y="82296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!  WithoutHelmet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3264408" y="1316736"/>
            <a:ext cx="2523744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00" dirty="0">
                <a:solidFill>
                  <a:srgbClr val="475569"/>
                </a:solidFill>
              </a:rPr>
              <a:t>Rider detected without helmet. Triggers HELMET_NON_COMPLIANCE violation. Linked to motorcycle via associated_vehicle_id.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6035040" y="822960"/>
            <a:ext cx="2743200" cy="182880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6035040" y="822960"/>
            <a:ext cx="2743200" cy="457200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035040" y="82296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!  TripleRiding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6144768" y="1316736"/>
            <a:ext cx="2523744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00" dirty="0">
                <a:solidFill>
                  <a:srgbClr val="475569"/>
                </a:solidFill>
              </a:rPr>
              <a:t>motorcycle.rider_count &gt;= 3 triggers TRIPLE_RIDING rule. Headcount accumulated per motorcycle crop via Model 2.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274320" y="2834640"/>
            <a:ext cx="8595360" cy="205740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274320" y="2834640"/>
            <a:ext cx="64008" cy="2057400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57200" y="2907792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F172A"/>
                </a:solidFill>
              </a:rPr>
              <a:t>Crop-Level Inference Pipeline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411480" y="3246120"/>
            <a:ext cx="1298448" cy="548640"/>
          </a:xfrm>
          <a:prstGeom prst="rect">
            <a:avLst/>
          </a:prstGeom>
          <a:solidFill>
            <a:srgbClr val="1E293B"/>
          </a:solidFill>
          <a:ln w="6350">
            <a:solidFill>
              <a:srgbClr val="334155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11480" y="3246120"/>
            <a:ext cx="29260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4B8A6"/>
                </a:solidFill>
              </a:rPr>
              <a:t>1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685800" y="3246120"/>
            <a:ext cx="98755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FFFFFF"/>
                </a:solidFill>
              </a:rPr>
              <a:t>Model 1 detects motorcycle BBox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1719072" y="3474720"/>
            <a:ext cx="109728" cy="73152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1847088" y="3246120"/>
            <a:ext cx="1298448" cy="548640"/>
          </a:xfrm>
          <a:prstGeom prst="rect">
            <a:avLst/>
          </a:prstGeom>
          <a:solidFill>
            <a:srgbClr val="1E293B"/>
          </a:solidFill>
          <a:ln w="6350">
            <a:solidFill>
              <a:srgbClr val="334155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1847088" y="3246120"/>
            <a:ext cx="29260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4B8A6"/>
                </a:solidFill>
              </a:rPr>
              <a:t>2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2121408" y="3246120"/>
            <a:ext cx="98755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FFFFFF"/>
                </a:solidFill>
              </a:rPr>
              <a:t>Crop extracted from original frame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3154680" y="3474720"/>
            <a:ext cx="109728" cy="73152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3282696" y="3246120"/>
            <a:ext cx="1298448" cy="548640"/>
          </a:xfrm>
          <a:prstGeom prst="rect">
            <a:avLst/>
          </a:prstGeom>
          <a:solidFill>
            <a:srgbClr val="1E293B"/>
          </a:solidFill>
          <a:ln w="6350">
            <a:solidFill>
              <a:srgbClr val="334155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3282696" y="3246120"/>
            <a:ext cx="29260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4B8A6"/>
                </a:solidFill>
              </a:rPr>
              <a:t>3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3557016" y="3246120"/>
            <a:ext cx="98755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FFFFFF"/>
                </a:solidFill>
              </a:rPr>
              <a:t>640×640 resize → ONNX session 2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4590288" y="3474720"/>
            <a:ext cx="109728" cy="73152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4718304" y="3246120"/>
            <a:ext cx="1298448" cy="548640"/>
          </a:xfrm>
          <a:prstGeom prst="rect">
            <a:avLst/>
          </a:prstGeom>
          <a:solidFill>
            <a:srgbClr val="1E293B"/>
          </a:solidFill>
          <a:ln w="6350">
            <a:solidFill>
              <a:srgbClr val="334155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718304" y="3246120"/>
            <a:ext cx="29260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4B8A6"/>
                </a:solidFill>
              </a:rPr>
              <a:t>4</a:t>
            </a:r>
            <a:endParaRPr lang="en-US" sz="1300" dirty="0"/>
          </a:p>
        </p:txBody>
      </p:sp>
      <p:sp>
        <p:nvSpPr>
          <p:cNvPr id="34" name="Text 32"/>
          <p:cNvSpPr/>
          <p:nvPr/>
        </p:nvSpPr>
        <p:spPr>
          <a:xfrm>
            <a:off x="4992624" y="3246120"/>
            <a:ext cx="98755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FFFFFF"/>
                </a:solidFill>
              </a:rPr>
              <a:t>NMS: conf=0.25, IoU=0.45</a:t>
            </a:r>
            <a:endParaRPr lang="en-US" sz="900" dirty="0"/>
          </a:p>
        </p:txBody>
      </p:sp>
      <p:sp>
        <p:nvSpPr>
          <p:cNvPr id="35" name="Shape 33"/>
          <p:cNvSpPr/>
          <p:nvPr/>
        </p:nvSpPr>
        <p:spPr>
          <a:xfrm>
            <a:off x="6025896" y="3474720"/>
            <a:ext cx="109728" cy="73152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6153912" y="3246120"/>
            <a:ext cx="1298448" cy="548640"/>
          </a:xfrm>
          <a:prstGeom prst="rect">
            <a:avLst/>
          </a:prstGeom>
          <a:solidFill>
            <a:srgbClr val="1E293B"/>
          </a:solidFill>
          <a:ln w="6350">
            <a:solidFill>
              <a:srgbClr val="334155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6153912" y="3246120"/>
            <a:ext cx="29260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4B8A6"/>
                </a:solidFill>
              </a:rPr>
              <a:t>5</a:t>
            </a:r>
            <a:endParaRPr lang="en-US" sz="1300" dirty="0"/>
          </a:p>
        </p:txBody>
      </p:sp>
      <p:sp>
        <p:nvSpPr>
          <p:cNvPr id="38" name="Text 36"/>
          <p:cNvSpPr/>
          <p:nvPr/>
        </p:nvSpPr>
        <p:spPr>
          <a:xfrm>
            <a:off x="6428232" y="3246120"/>
            <a:ext cx="98755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FFFFFF"/>
                </a:solidFill>
              </a:rPr>
              <a:t>rider_count tallied per moto</a:t>
            </a:r>
            <a:endParaRPr lang="en-US" sz="900" dirty="0"/>
          </a:p>
        </p:txBody>
      </p:sp>
      <p:sp>
        <p:nvSpPr>
          <p:cNvPr id="39" name="Shape 37"/>
          <p:cNvSpPr/>
          <p:nvPr/>
        </p:nvSpPr>
        <p:spPr>
          <a:xfrm>
            <a:off x="7461504" y="3474720"/>
            <a:ext cx="109728" cy="73152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7589520" y="3246120"/>
            <a:ext cx="1298448" cy="548640"/>
          </a:xfrm>
          <a:prstGeom prst="rect">
            <a:avLst/>
          </a:prstGeom>
          <a:solidFill>
            <a:srgbClr val="1E293B"/>
          </a:solidFill>
          <a:ln w="6350">
            <a:solidFill>
              <a:srgbClr val="334155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7589520" y="3246120"/>
            <a:ext cx="29260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4B8A6"/>
                </a:solidFill>
              </a:rPr>
              <a:t>6</a:t>
            </a:r>
            <a:endParaRPr lang="en-US" sz="1300" dirty="0"/>
          </a:p>
        </p:txBody>
      </p:sp>
      <p:sp>
        <p:nvSpPr>
          <p:cNvPr id="42" name="Text 40"/>
          <p:cNvSpPr/>
          <p:nvPr/>
        </p:nvSpPr>
        <p:spPr>
          <a:xfrm>
            <a:off x="7863840" y="3246120"/>
            <a:ext cx="98755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FFFFFF"/>
                </a:solidFill>
              </a:rPr>
              <a:t>Violation rules evaluated</a:t>
            </a:r>
            <a:endParaRPr lang="en-US" sz="900" dirty="0"/>
          </a:p>
        </p:txBody>
      </p:sp>
      <p:sp>
        <p:nvSpPr>
          <p:cNvPr id="43" name="Shape 41"/>
          <p:cNvSpPr/>
          <p:nvPr/>
        </p:nvSpPr>
        <p:spPr>
          <a:xfrm>
            <a:off x="411480" y="3913632"/>
            <a:ext cx="2011680" cy="621792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411480" y="3931920"/>
            <a:ext cx="2011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97316"/>
                </a:solidFill>
              </a:rPr>
              <a:t>37.3%</a:t>
            </a:r>
            <a:endParaRPr lang="en-US" sz="2000" dirty="0"/>
          </a:p>
        </p:txBody>
      </p:sp>
      <p:sp>
        <p:nvSpPr>
          <p:cNvPr id="45" name="Text 43"/>
          <p:cNvSpPr/>
          <p:nvPr/>
        </p:nvSpPr>
        <p:spPr>
          <a:xfrm>
            <a:off x="411480" y="4224528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00" dirty="0">
                <a:solidFill>
                  <a:srgbClr val="475569"/>
                </a:solidFill>
              </a:rPr>
              <a:t>mAP50 (COCO)</a:t>
            </a:r>
            <a:endParaRPr lang="en-US" sz="900" dirty="0"/>
          </a:p>
        </p:txBody>
      </p:sp>
      <p:sp>
        <p:nvSpPr>
          <p:cNvPr id="46" name="Shape 44"/>
          <p:cNvSpPr/>
          <p:nvPr/>
        </p:nvSpPr>
        <p:spPr>
          <a:xfrm>
            <a:off x="2560320" y="3913632"/>
            <a:ext cx="2011680" cy="621792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2560320" y="3931920"/>
            <a:ext cx="2011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97316"/>
                </a:solidFill>
              </a:rPr>
              <a:t>52.2%</a:t>
            </a:r>
            <a:endParaRPr lang="en-US" sz="2000" dirty="0"/>
          </a:p>
        </p:txBody>
      </p:sp>
      <p:sp>
        <p:nvSpPr>
          <p:cNvPr id="48" name="Text 46"/>
          <p:cNvSpPr/>
          <p:nvPr/>
        </p:nvSpPr>
        <p:spPr>
          <a:xfrm>
            <a:off x="2560320" y="4224528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00" dirty="0">
                <a:solidFill>
                  <a:srgbClr val="475569"/>
                </a:solidFill>
              </a:rPr>
              <a:t>mAP50-95</a:t>
            </a:r>
            <a:endParaRPr lang="en-US" sz="900" dirty="0"/>
          </a:p>
        </p:txBody>
      </p:sp>
      <p:sp>
        <p:nvSpPr>
          <p:cNvPr id="49" name="Shape 47"/>
          <p:cNvSpPr/>
          <p:nvPr/>
        </p:nvSpPr>
        <p:spPr>
          <a:xfrm>
            <a:off x="4709160" y="3913632"/>
            <a:ext cx="2011680" cy="621792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4709160" y="3931920"/>
            <a:ext cx="2011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97316"/>
                </a:solidFill>
              </a:rPr>
              <a:t>23.3 ms</a:t>
            </a:r>
            <a:endParaRPr lang="en-US" sz="2000" dirty="0"/>
          </a:p>
        </p:txBody>
      </p:sp>
      <p:sp>
        <p:nvSpPr>
          <p:cNvPr id="51" name="Text 49"/>
          <p:cNvSpPr/>
          <p:nvPr/>
        </p:nvSpPr>
        <p:spPr>
          <a:xfrm>
            <a:off x="4709160" y="4224528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00" dirty="0">
                <a:solidFill>
                  <a:srgbClr val="475569"/>
                </a:solidFill>
              </a:rPr>
              <a:t>Speed (CPU ONNX)</a:t>
            </a:r>
            <a:endParaRPr lang="en-US" sz="900" dirty="0"/>
          </a:p>
        </p:txBody>
      </p:sp>
      <p:sp>
        <p:nvSpPr>
          <p:cNvPr id="52" name="Shape 50"/>
          <p:cNvSpPr/>
          <p:nvPr/>
        </p:nvSpPr>
        <p:spPr>
          <a:xfrm>
            <a:off x="6858000" y="3913632"/>
            <a:ext cx="2011680" cy="621792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6858000" y="3931920"/>
            <a:ext cx="2011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97316"/>
                </a:solidFill>
              </a:rPr>
              <a:t>3.2 M</a:t>
            </a:r>
            <a:endParaRPr lang="en-US" sz="2000" dirty="0"/>
          </a:p>
        </p:txBody>
      </p:sp>
      <p:sp>
        <p:nvSpPr>
          <p:cNvPr id="54" name="Text 52"/>
          <p:cNvSpPr/>
          <p:nvPr/>
        </p:nvSpPr>
        <p:spPr>
          <a:xfrm>
            <a:off x="6858000" y="4224528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00" dirty="0">
                <a:solidFill>
                  <a:srgbClr val="475569"/>
                </a:solidFill>
              </a:rPr>
              <a:t>Params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09728" cy="685800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28600" y="0"/>
            <a:ext cx="8686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9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04  |  Physics-Based CV Logic  (OpenCV + Custom Rules)</a:t>
            </a:r>
            <a:endParaRPr lang="en-US" sz="1900" dirty="0"/>
          </a:p>
        </p:txBody>
      </p:sp>
      <p:sp>
        <p:nvSpPr>
          <p:cNvPr id="5" name="Shape 3"/>
          <p:cNvSpPr/>
          <p:nvPr/>
        </p:nvSpPr>
        <p:spPr>
          <a:xfrm>
            <a:off x="274320" y="822960"/>
            <a:ext cx="2788920" cy="416052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74320" y="822960"/>
            <a:ext cx="2788920" cy="658368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74320" y="822960"/>
            <a:ext cx="73152" cy="658368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84048" y="822960"/>
            <a:ext cx="2606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</a:rPr>
              <a:t>Wrong-Side Driving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384048" y="1133856"/>
            <a:ext cx="2606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14B8A6"/>
                </a:solidFill>
              </a:rPr>
              <a:t>WRONG_SIDE_DRIVING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384048" y="1554480"/>
            <a:ext cx="2606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D9488"/>
                </a:solidFill>
              </a:rPr>
              <a:t>Optical Flow (Lucas-Kanade) + Lane ROI Masks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384048" y="2011680"/>
            <a:ext cx="201168" cy="201168"/>
          </a:xfrm>
          <a:prstGeom prst="ellipse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84048" y="2011680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1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640080" y="1920240"/>
            <a:ext cx="23317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475569"/>
                </a:solidFill>
              </a:rPr>
              <a:t>Compute dense optical flow between consecutive frames using cv2.calcOpticalFlowPyrLK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384048" y="2523744"/>
            <a:ext cx="201168" cy="201168"/>
          </a:xfrm>
          <a:prstGeom prst="ellipse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84048" y="2523744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2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640080" y="2432304"/>
            <a:ext cx="23317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475569"/>
                </a:solidFill>
              </a:rPr>
              <a:t>Track centroid trajectory vectors for each detected vehicle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384048" y="3035808"/>
            <a:ext cx="201168" cy="201168"/>
          </a:xfrm>
          <a:prstGeom prst="ellipse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84048" y="3035808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3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640080" y="2944368"/>
            <a:ext cx="23317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475569"/>
                </a:solidFill>
              </a:rPr>
              <a:t>Define lane-direction polygons as ROI masks per camera calibration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384048" y="3547872"/>
            <a:ext cx="201168" cy="201168"/>
          </a:xfrm>
          <a:prstGeom prst="ellipse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84048" y="3547872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4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640080" y="3456432"/>
            <a:ext cx="23317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475569"/>
                </a:solidFill>
              </a:rPr>
              <a:t>Flag violation when centroid motion vector opposes the permitted lane-direction polygon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384048" y="4059936"/>
            <a:ext cx="201168" cy="201168"/>
          </a:xfrm>
          <a:prstGeom prst="ellipse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84048" y="4059936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5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640080" y="3968496"/>
            <a:ext cx="23317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475569"/>
                </a:solidFill>
              </a:rPr>
              <a:t>Hysteresis: require 3 consecutive frames to confirm before triggering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3182112" y="822960"/>
            <a:ext cx="2788920" cy="416052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3182112" y="822960"/>
            <a:ext cx="2788920" cy="658368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3182112" y="822960"/>
            <a:ext cx="73152" cy="658368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3291840" y="822960"/>
            <a:ext cx="2606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</a:rPr>
              <a:t>Illegal Parking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3291840" y="1133856"/>
            <a:ext cx="2606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14B8A6"/>
                </a:solidFill>
              </a:rPr>
              <a:t>ILLEGAL_PARKING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3291840" y="1554480"/>
            <a:ext cx="2606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D9488"/>
                </a:solidFill>
              </a:rPr>
              <a:t>ROI Pixel Threshold + Temporal Accumulation Timer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3291840" y="2011680"/>
            <a:ext cx="201168" cy="201168"/>
          </a:xfrm>
          <a:prstGeom prst="ellipse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3291840" y="2011680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1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3547872" y="1920240"/>
            <a:ext cx="23317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475569"/>
                </a:solidFill>
              </a:rPr>
              <a:t>Define no-parking zones as polygon ROI masks in camera config</a:t>
            </a:r>
            <a:endParaRPr lang="en-US" sz="950" dirty="0"/>
          </a:p>
        </p:txBody>
      </p:sp>
      <p:sp>
        <p:nvSpPr>
          <p:cNvPr id="35" name="Shape 33"/>
          <p:cNvSpPr/>
          <p:nvPr/>
        </p:nvSpPr>
        <p:spPr>
          <a:xfrm>
            <a:off x="3291840" y="2523744"/>
            <a:ext cx="201168" cy="201168"/>
          </a:xfrm>
          <a:prstGeom prst="ellipse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3291840" y="2523744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2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3547872" y="2432304"/>
            <a:ext cx="23317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475569"/>
                </a:solidFill>
              </a:rPr>
              <a:t>Monitor centroid bounding box of all vehicles each frame</a:t>
            </a:r>
            <a:endParaRPr lang="en-US" sz="950" dirty="0"/>
          </a:p>
        </p:txBody>
      </p:sp>
      <p:sp>
        <p:nvSpPr>
          <p:cNvPr id="38" name="Shape 36"/>
          <p:cNvSpPr/>
          <p:nvPr/>
        </p:nvSpPr>
        <p:spPr>
          <a:xfrm>
            <a:off x="3291840" y="3035808"/>
            <a:ext cx="201168" cy="201168"/>
          </a:xfrm>
          <a:prstGeom prst="ellipse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3291840" y="3035808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3</a:t>
            </a:r>
            <a:endParaRPr lang="en-US" sz="900" dirty="0"/>
          </a:p>
        </p:txBody>
      </p:sp>
      <p:sp>
        <p:nvSpPr>
          <p:cNvPr id="40" name="Text 38"/>
          <p:cNvSpPr/>
          <p:nvPr/>
        </p:nvSpPr>
        <p:spPr>
          <a:xfrm>
            <a:off x="3547872" y="2944368"/>
            <a:ext cx="23317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475569"/>
                </a:solidFill>
              </a:rPr>
              <a:t>Compute per-vehicle velocity: if displacement between frames &lt; 5px = stationary</a:t>
            </a:r>
            <a:endParaRPr lang="en-US" sz="950" dirty="0"/>
          </a:p>
        </p:txBody>
      </p:sp>
      <p:sp>
        <p:nvSpPr>
          <p:cNvPr id="41" name="Shape 39"/>
          <p:cNvSpPr/>
          <p:nvPr/>
        </p:nvSpPr>
        <p:spPr>
          <a:xfrm>
            <a:off x="3291840" y="3547872"/>
            <a:ext cx="201168" cy="201168"/>
          </a:xfrm>
          <a:prstGeom prst="ellipse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3291840" y="3547872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4</a:t>
            </a:r>
            <a:endParaRPr lang="en-US" sz="900" dirty="0"/>
          </a:p>
        </p:txBody>
      </p:sp>
      <p:sp>
        <p:nvSpPr>
          <p:cNvPr id="43" name="Text 41"/>
          <p:cNvSpPr/>
          <p:nvPr/>
        </p:nvSpPr>
        <p:spPr>
          <a:xfrm>
            <a:off x="3547872" y="3456432"/>
            <a:ext cx="23317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475569"/>
                </a:solidFill>
              </a:rPr>
              <a:t>Accumulate stationary-frame counter per vehicle ID (ByteTrack)</a:t>
            </a:r>
            <a:endParaRPr lang="en-US" sz="950" dirty="0"/>
          </a:p>
        </p:txBody>
      </p:sp>
      <p:sp>
        <p:nvSpPr>
          <p:cNvPr id="44" name="Shape 42"/>
          <p:cNvSpPr/>
          <p:nvPr/>
        </p:nvSpPr>
        <p:spPr>
          <a:xfrm>
            <a:off x="3291840" y="4059936"/>
            <a:ext cx="201168" cy="201168"/>
          </a:xfrm>
          <a:prstGeom prst="ellipse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3291840" y="4059936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5</a:t>
            </a:r>
            <a:endParaRPr lang="en-US" sz="900" dirty="0"/>
          </a:p>
        </p:txBody>
      </p:sp>
      <p:sp>
        <p:nvSpPr>
          <p:cNvPr id="46" name="Text 44"/>
          <p:cNvSpPr/>
          <p:nvPr/>
        </p:nvSpPr>
        <p:spPr>
          <a:xfrm>
            <a:off x="3547872" y="3968496"/>
            <a:ext cx="23317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475569"/>
                </a:solidFill>
              </a:rPr>
              <a:t>Trigger violation when counter exceeds 180-second threshold in no-parking polygon</a:t>
            </a:r>
            <a:endParaRPr lang="en-US" sz="950" dirty="0"/>
          </a:p>
        </p:txBody>
      </p:sp>
      <p:sp>
        <p:nvSpPr>
          <p:cNvPr id="47" name="Shape 45"/>
          <p:cNvSpPr/>
          <p:nvPr/>
        </p:nvSpPr>
        <p:spPr>
          <a:xfrm>
            <a:off x="6089904" y="822960"/>
            <a:ext cx="2788920" cy="416052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48" name="Shape 46"/>
          <p:cNvSpPr/>
          <p:nvPr/>
        </p:nvSpPr>
        <p:spPr>
          <a:xfrm>
            <a:off x="6089904" y="822960"/>
            <a:ext cx="2788920" cy="658368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6089904" y="822960"/>
            <a:ext cx="73152" cy="658368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6199632" y="822960"/>
            <a:ext cx="2606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</a:rPr>
              <a:t>Stop Line Violation</a:t>
            </a:r>
            <a:endParaRPr lang="en-US" sz="1300" dirty="0"/>
          </a:p>
        </p:txBody>
      </p:sp>
      <p:sp>
        <p:nvSpPr>
          <p:cNvPr id="51" name="Text 49"/>
          <p:cNvSpPr/>
          <p:nvPr/>
        </p:nvSpPr>
        <p:spPr>
          <a:xfrm>
            <a:off x="6199632" y="1133856"/>
            <a:ext cx="2606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14B8A6"/>
                </a:solidFill>
              </a:rPr>
              <a:t>STOP_LINE_VIOLATION</a:t>
            </a:r>
            <a:endParaRPr lang="en-US" sz="900" dirty="0"/>
          </a:p>
        </p:txBody>
      </p:sp>
      <p:sp>
        <p:nvSpPr>
          <p:cNvPr id="52" name="Text 50"/>
          <p:cNvSpPr/>
          <p:nvPr/>
        </p:nvSpPr>
        <p:spPr>
          <a:xfrm>
            <a:off x="6199632" y="1554480"/>
            <a:ext cx="2606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D9488"/>
                </a:solidFill>
              </a:rPr>
              <a:t>Virtual Loop Sensors (ROI Lines) + Signal State</a:t>
            </a:r>
            <a:endParaRPr lang="en-US" sz="1000" dirty="0"/>
          </a:p>
        </p:txBody>
      </p:sp>
      <p:sp>
        <p:nvSpPr>
          <p:cNvPr id="53" name="Shape 51"/>
          <p:cNvSpPr/>
          <p:nvPr/>
        </p:nvSpPr>
        <p:spPr>
          <a:xfrm>
            <a:off x="6199632" y="2011680"/>
            <a:ext cx="201168" cy="201168"/>
          </a:xfrm>
          <a:prstGeom prst="ellipse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6199632" y="2011680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1</a:t>
            </a:r>
            <a:endParaRPr lang="en-US" sz="900" dirty="0"/>
          </a:p>
        </p:txBody>
      </p:sp>
      <p:sp>
        <p:nvSpPr>
          <p:cNvPr id="55" name="Text 53"/>
          <p:cNvSpPr/>
          <p:nvPr/>
        </p:nvSpPr>
        <p:spPr>
          <a:xfrm>
            <a:off x="6455664" y="1920240"/>
            <a:ext cx="23317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475569"/>
                </a:solidFill>
              </a:rPr>
              <a:t>Place virtual sensor lines at stop-line positions per lane</a:t>
            </a:r>
            <a:endParaRPr lang="en-US" sz="950" dirty="0"/>
          </a:p>
        </p:txBody>
      </p:sp>
      <p:sp>
        <p:nvSpPr>
          <p:cNvPr id="56" name="Shape 54"/>
          <p:cNvSpPr/>
          <p:nvPr/>
        </p:nvSpPr>
        <p:spPr>
          <a:xfrm>
            <a:off x="6199632" y="2523744"/>
            <a:ext cx="201168" cy="201168"/>
          </a:xfrm>
          <a:prstGeom prst="ellipse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6199632" y="2523744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2</a:t>
            </a:r>
            <a:endParaRPr lang="en-US" sz="900" dirty="0"/>
          </a:p>
        </p:txBody>
      </p:sp>
      <p:sp>
        <p:nvSpPr>
          <p:cNvPr id="58" name="Text 56"/>
          <p:cNvSpPr/>
          <p:nvPr/>
        </p:nvSpPr>
        <p:spPr>
          <a:xfrm>
            <a:off x="6455664" y="2432304"/>
            <a:ext cx="23317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475569"/>
                </a:solidFill>
              </a:rPr>
              <a:t>Monitor traffic signal state via camera feed or external API feed</a:t>
            </a:r>
            <a:endParaRPr lang="en-US" sz="950" dirty="0"/>
          </a:p>
        </p:txBody>
      </p:sp>
      <p:sp>
        <p:nvSpPr>
          <p:cNvPr id="59" name="Shape 57"/>
          <p:cNvSpPr/>
          <p:nvPr/>
        </p:nvSpPr>
        <p:spPr>
          <a:xfrm>
            <a:off x="6199632" y="3035808"/>
            <a:ext cx="201168" cy="201168"/>
          </a:xfrm>
          <a:prstGeom prst="ellipse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6199632" y="3035808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3</a:t>
            </a:r>
            <a:endParaRPr lang="en-US" sz="900" dirty="0"/>
          </a:p>
        </p:txBody>
      </p:sp>
      <p:sp>
        <p:nvSpPr>
          <p:cNvPr id="61" name="Text 59"/>
          <p:cNvSpPr/>
          <p:nvPr/>
        </p:nvSpPr>
        <p:spPr>
          <a:xfrm>
            <a:off x="6455664" y="2944368"/>
            <a:ext cx="23317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475569"/>
                </a:solidFill>
              </a:rPr>
              <a:t>Detect when a vehicle's leading edge (x2, y2 of bbox) crosses the sensor line</a:t>
            </a:r>
            <a:endParaRPr lang="en-US" sz="950" dirty="0"/>
          </a:p>
        </p:txBody>
      </p:sp>
      <p:sp>
        <p:nvSpPr>
          <p:cNvPr id="62" name="Shape 60"/>
          <p:cNvSpPr/>
          <p:nvPr/>
        </p:nvSpPr>
        <p:spPr>
          <a:xfrm>
            <a:off x="6199632" y="3547872"/>
            <a:ext cx="201168" cy="201168"/>
          </a:xfrm>
          <a:prstGeom prst="ellipse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63" name="Text 61"/>
          <p:cNvSpPr/>
          <p:nvPr/>
        </p:nvSpPr>
        <p:spPr>
          <a:xfrm>
            <a:off x="6199632" y="3547872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4</a:t>
            </a:r>
            <a:endParaRPr lang="en-US" sz="900" dirty="0"/>
          </a:p>
        </p:txBody>
      </p:sp>
      <p:sp>
        <p:nvSpPr>
          <p:cNvPr id="64" name="Text 62"/>
          <p:cNvSpPr/>
          <p:nvPr/>
        </p:nvSpPr>
        <p:spPr>
          <a:xfrm>
            <a:off x="6455664" y="3456432"/>
            <a:ext cx="23317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475569"/>
                </a:solidFill>
              </a:rPr>
              <a:t>Cross-check: only flag if signal state = RED at time of crossing</a:t>
            </a:r>
            <a:endParaRPr lang="en-US" sz="950" dirty="0"/>
          </a:p>
        </p:txBody>
      </p:sp>
      <p:sp>
        <p:nvSpPr>
          <p:cNvPr id="65" name="Shape 63"/>
          <p:cNvSpPr/>
          <p:nvPr/>
        </p:nvSpPr>
        <p:spPr>
          <a:xfrm>
            <a:off x="6199632" y="4059936"/>
            <a:ext cx="201168" cy="201168"/>
          </a:xfrm>
          <a:prstGeom prst="ellipse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66" name="Text 64"/>
          <p:cNvSpPr/>
          <p:nvPr/>
        </p:nvSpPr>
        <p:spPr>
          <a:xfrm>
            <a:off x="6199632" y="4059936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5</a:t>
            </a:r>
            <a:endParaRPr lang="en-US" sz="900" dirty="0"/>
          </a:p>
        </p:txBody>
      </p:sp>
      <p:sp>
        <p:nvSpPr>
          <p:cNvPr id="67" name="Text 65"/>
          <p:cNvSpPr/>
          <p:nvPr/>
        </p:nvSpPr>
        <p:spPr>
          <a:xfrm>
            <a:off x="6455664" y="3968496"/>
            <a:ext cx="23317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475569"/>
                </a:solidFill>
              </a:rPr>
              <a:t>One violation record per vehicle-per-cycle; suppress duplicates via vehicle ID</a:t>
            </a:r>
            <a:endParaRPr lang="en-US" sz="9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09728" cy="685800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28600" y="0"/>
            <a:ext cx="8686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05  |  Number Plate OCR Pipeline  (PaddleOCR + Real-ESRGAN)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274320" y="822960"/>
            <a:ext cx="4114800" cy="416052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74320" y="822960"/>
            <a:ext cx="64008" cy="4160520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886968"/>
            <a:ext cx="3749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F172A"/>
                </a:solidFill>
              </a:rPr>
              <a:t>Detection &amp; Extraction Flow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384048" y="1335024"/>
            <a:ext cx="292608" cy="292608"/>
          </a:xfrm>
          <a:prstGeom prst="ellipse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84048" y="1335024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1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777240" y="1261872"/>
            <a:ext cx="3474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0F172A"/>
                </a:solidFill>
              </a:rPr>
              <a:t>YOLOv8m Plate Localization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777240" y="1517904"/>
            <a:ext cx="34747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75569"/>
                </a:solidFill>
              </a:rPr>
              <a:t>Model 1 identifies bounding boxes of class 'number_plate' in the full frame with 640px input.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384048" y="2066544"/>
            <a:ext cx="292608" cy="292608"/>
          </a:xfrm>
          <a:prstGeom prst="ellipse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84048" y="2066544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2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777240" y="1993392"/>
            <a:ext cx="3474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0F172A"/>
                </a:solidFill>
              </a:rPr>
              <a:t>Crop Extraction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777240" y="2249424"/>
            <a:ext cx="34747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75569"/>
                </a:solidFill>
              </a:rPr>
              <a:t>Plate region cropped from the original high-res image. 5% padding applied via PIL Image.crop().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384048" y="2798064"/>
            <a:ext cx="292608" cy="292608"/>
          </a:xfrm>
          <a:prstGeom prst="ellipse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84048" y="2798064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3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777240" y="2724912"/>
            <a:ext cx="3474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0F172A"/>
                </a:solidFill>
              </a:rPr>
              <a:t>Real-ESRGAN Enhancement (optional)</a:t>
            </a:r>
            <a:endParaRPr lang="en-US" sz="1150" dirty="0"/>
          </a:p>
        </p:txBody>
      </p:sp>
      <p:sp>
        <p:nvSpPr>
          <p:cNvPr id="19" name="Text 17"/>
          <p:cNvSpPr/>
          <p:nvPr/>
        </p:nvSpPr>
        <p:spPr>
          <a:xfrm>
            <a:off x="777240" y="2980944"/>
            <a:ext cx="34747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75569"/>
                </a:solidFill>
              </a:rPr>
              <a:t>RealESRGAN_x2plus.pth upsamples crop 2x. Improves OCR accuracy on low-res CCTV feeds.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384048" y="3529584"/>
            <a:ext cx="292608" cy="292608"/>
          </a:xfrm>
          <a:prstGeom prst="ellipse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84048" y="3529584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4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777240" y="3456432"/>
            <a:ext cx="3474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0F172A"/>
                </a:solidFill>
              </a:rPr>
              <a:t>PaddleOCR Inference</a:t>
            </a:r>
            <a:endParaRPr lang="en-US" sz="1150" dirty="0"/>
          </a:p>
        </p:txBody>
      </p:sp>
      <p:sp>
        <p:nvSpPr>
          <p:cNvPr id="23" name="Text 21"/>
          <p:cNvSpPr/>
          <p:nvPr/>
        </p:nvSpPr>
        <p:spPr>
          <a:xfrm>
            <a:off x="777240" y="3712464"/>
            <a:ext cx="34747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75569"/>
                </a:solidFill>
              </a:rPr>
              <a:t>PaddleOCR(use_angle_cls=True, lang='en'). use_angle_cls corrects rotated/stacked plate lines.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384048" y="4261104"/>
            <a:ext cx="292608" cy="292608"/>
          </a:xfrm>
          <a:prstGeom prst="ellipse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84048" y="4261104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5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777240" y="4187952"/>
            <a:ext cx="3474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0F172A"/>
                </a:solidFill>
              </a:rPr>
              <a:t>Text Post-Processing</a:t>
            </a:r>
            <a:endParaRPr lang="en-US" sz="1150" dirty="0"/>
          </a:p>
        </p:txBody>
      </p:sp>
      <p:sp>
        <p:nvSpPr>
          <p:cNvPr id="27" name="Text 25"/>
          <p:cNvSpPr/>
          <p:nvPr/>
        </p:nvSpPr>
        <p:spPr>
          <a:xfrm>
            <a:off x="777240" y="4443984"/>
            <a:ext cx="34747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75569"/>
                </a:solidFill>
              </a:rPr>
              <a:t>clean_plate_text() normalises fragments to HSRP format: AA-00-AA-0000. Invalid strings discarded.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4663440" y="822960"/>
            <a:ext cx="4206240" cy="416052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4663440" y="822960"/>
            <a:ext cx="64008" cy="4160520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846320" y="886968"/>
            <a:ext cx="3840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F172A"/>
                </a:solidFill>
              </a:rPr>
              <a:t>Indian HSRP Format &amp; Tech Stack</a:t>
            </a:r>
            <a:endParaRPr lang="en-US" sz="1400" dirty="0"/>
          </a:p>
        </p:txBody>
      </p:sp>
      <p:sp>
        <p:nvSpPr>
          <p:cNvPr id="31" name="Shape 29"/>
          <p:cNvSpPr/>
          <p:nvPr/>
        </p:nvSpPr>
        <p:spPr>
          <a:xfrm>
            <a:off x="4846320" y="1261872"/>
            <a:ext cx="3840480" cy="658368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846320" y="1261872"/>
            <a:ext cx="38404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14B8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MH 12 AB 1234</a:t>
            </a:r>
            <a:endParaRPr lang="en-US" sz="3000" dirty="0"/>
          </a:p>
        </p:txBody>
      </p:sp>
      <p:sp>
        <p:nvSpPr>
          <p:cNvPr id="33" name="Text 31"/>
          <p:cNvSpPr/>
          <p:nvPr/>
        </p:nvSpPr>
        <p:spPr>
          <a:xfrm>
            <a:off x="4846320" y="2029968"/>
            <a:ext cx="3886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475569"/>
                </a:solidFill>
              </a:rPr>
              <a:t>Format regex: </a:t>
            </a:r>
            <a:r>
              <a:rPr lang="en-US" sz="1050" dirty="0">
                <a:solidFill>
                  <a:srgbClr val="475569"/>
                </a:solidFill>
              </a:rPr>
              <a:t>^[A-Z]{2}[0-9]{1,2}[A-Z]{1,2}[0-9]{4}$</a:t>
            </a:r>
            <a:endParaRPr lang="en-US" sz="1050" dirty="0"/>
          </a:p>
        </p:txBody>
      </p:sp>
      <p:sp>
        <p:nvSpPr>
          <p:cNvPr id="34" name="Text 32"/>
          <p:cNvSpPr/>
          <p:nvPr/>
        </p:nvSpPr>
        <p:spPr>
          <a:xfrm>
            <a:off x="4846320" y="2432304"/>
            <a:ext cx="3886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475569"/>
                </a:solidFill>
              </a:rPr>
              <a:t>Engine: </a:t>
            </a:r>
            <a:r>
              <a:rPr lang="en-US" sz="1050" dirty="0">
                <a:solidFill>
                  <a:srgbClr val="475569"/>
                </a:solidFill>
              </a:rPr>
              <a:t>PaddleOCR v2.9.1 with PPOCR-v4 models</a:t>
            </a:r>
            <a:endParaRPr lang="en-US" sz="1050" dirty="0"/>
          </a:p>
        </p:txBody>
      </p:sp>
      <p:sp>
        <p:nvSpPr>
          <p:cNvPr id="35" name="Text 33"/>
          <p:cNvSpPr/>
          <p:nvPr/>
        </p:nvSpPr>
        <p:spPr>
          <a:xfrm>
            <a:off x="4846320" y="2834640"/>
            <a:ext cx="3886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475569"/>
                </a:solidFill>
              </a:rPr>
              <a:t>Angle Cls: </a:t>
            </a:r>
            <a:r>
              <a:rPr lang="en-US" sz="1050" dirty="0">
                <a:solidFill>
                  <a:srgbClr val="475569"/>
                </a:solidFill>
              </a:rPr>
              <a:t>use_angle_cls=True — handles stacked 2-row plates</a:t>
            </a:r>
            <a:endParaRPr lang="en-US" sz="1050" dirty="0"/>
          </a:p>
        </p:txBody>
      </p:sp>
      <p:sp>
        <p:nvSpPr>
          <p:cNvPr id="36" name="Text 34"/>
          <p:cNvSpPr/>
          <p:nvPr/>
        </p:nvSpPr>
        <p:spPr>
          <a:xfrm>
            <a:off x="4846320" y="3236976"/>
            <a:ext cx="3886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475569"/>
                </a:solidFill>
              </a:rPr>
              <a:t>Upsampler: </a:t>
            </a:r>
            <a:r>
              <a:rPr lang="en-US" sz="1050" dirty="0">
                <a:solidFill>
                  <a:srgbClr val="475569"/>
                </a:solidFill>
              </a:rPr>
              <a:t>Real-ESRGAN x2plus (2× super-resolution)</a:t>
            </a:r>
            <a:endParaRPr lang="en-US" sz="1050" dirty="0"/>
          </a:p>
        </p:txBody>
      </p:sp>
      <p:sp>
        <p:nvSpPr>
          <p:cNvPr id="37" name="Text 35"/>
          <p:cNvSpPr/>
          <p:nvPr/>
        </p:nvSpPr>
        <p:spPr>
          <a:xfrm>
            <a:off x="4846320" y="3639312"/>
            <a:ext cx="3886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475569"/>
                </a:solidFill>
              </a:rPr>
              <a:t>Fragment merge: </a:t>
            </a:r>
            <a:r>
              <a:rPr lang="en-US" sz="1050" dirty="0">
                <a:solidFill>
                  <a:srgbClr val="475569"/>
                </a:solidFill>
              </a:rPr>
              <a:t>All OCR line fragments joined before regex match</a:t>
            </a:r>
            <a:endParaRPr lang="en-US" sz="1050" dirty="0"/>
          </a:p>
        </p:txBody>
      </p:sp>
      <p:sp>
        <p:nvSpPr>
          <p:cNvPr id="38" name="Text 36"/>
          <p:cNvSpPr/>
          <p:nvPr/>
        </p:nvSpPr>
        <p:spPr>
          <a:xfrm>
            <a:off x="4846320" y="4041648"/>
            <a:ext cx="3886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475569"/>
                </a:solidFill>
              </a:rPr>
              <a:t>Fallback: </a:t>
            </a:r>
            <a:r>
              <a:rPr lang="en-US" sz="1050" dirty="0">
                <a:solidFill>
                  <a:srgbClr val="475569"/>
                </a:solidFill>
              </a:rPr>
              <a:t>Individual line validation if concat match fails</a:t>
            </a:r>
            <a:endParaRPr lang="en-US" sz="1050" dirty="0"/>
          </a:p>
        </p:txBody>
      </p:sp>
      <p:sp>
        <p:nvSpPr>
          <p:cNvPr id="39" name="Text 37"/>
          <p:cNvSpPr/>
          <p:nvPr/>
        </p:nvSpPr>
        <p:spPr>
          <a:xfrm>
            <a:off x="4846320" y="4443984"/>
            <a:ext cx="3886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475569"/>
                </a:solidFill>
              </a:rPr>
              <a:t>Storage: </a:t>
            </a:r>
            <a:r>
              <a:rPr lang="en-US" sz="1050" dirty="0">
                <a:solidFill>
                  <a:srgbClr val="475569"/>
                </a:solidFill>
              </a:rPr>
              <a:t>plate_number stored in PostgreSQL violations table</a:t>
            </a:r>
            <a:endParaRPr lang="en-US" sz="10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164592"/>
            <a:ext cx="8503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06  |  End-to-End Pipeline Flow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320040" y="640080"/>
            <a:ext cx="8503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i="1" dirty="0">
                <a:solidFill>
                  <a:srgbClr val="94A3B8"/>
                </a:solidFill>
              </a:rPr>
              <a:t>From raw camera frame to persisted violation record + evidence crop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320040" y="2395728"/>
            <a:ext cx="8503920" cy="36576"/>
          </a:xfrm>
          <a:prstGeom prst="rect">
            <a:avLst/>
          </a:prstGeom>
          <a:solidFill>
            <a:srgbClr val="334155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04672" y="2103120"/>
            <a:ext cx="548640" cy="548640"/>
          </a:xfrm>
          <a:prstGeom prst="ellipse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04672" y="210312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1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530352" y="278892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4B8A6"/>
                </a:solidFill>
              </a:rPr>
              <a:t>Ingest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20624" y="3108960"/>
            <a:ext cx="1316736" cy="1572768"/>
          </a:xfrm>
          <a:prstGeom prst="rect">
            <a:avLst/>
          </a:prstGeom>
          <a:solidFill>
            <a:srgbClr val="1E293B"/>
          </a:solidFill>
          <a:ln w="6350">
            <a:solidFill>
              <a:srgbClr val="334155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75488" y="3163824"/>
            <a:ext cx="120700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50" dirty="0">
                <a:solidFill>
                  <a:srgbClr val="FFFFFF"/>
                </a:solidFill>
              </a:rPr>
              <a:t>Upload / RTSP frame captured via API endpoint POST /api/v1/image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2240280" y="2103120"/>
            <a:ext cx="548640" cy="548640"/>
          </a:xfrm>
          <a:prstGeom prst="ellipse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240280" y="210312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2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1965960" y="278892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4B8A6"/>
                </a:solidFill>
              </a:rPr>
              <a:t>Model 1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1856232" y="3108960"/>
            <a:ext cx="1316736" cy="1572768"/>
          </a:xfrm>
          <a:prstGeom prst="rect">
            <a:avLst/>
          </a:prstGeom>
          <a:solidFill>
            <a:srgbClr val="1E293B"/>
          </a:solidFill>
          <a:ln w="6350">
            <a:solidFill>
              <a:srgbClr val="334155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911096" y="3163824"/>
            <a:ext cx="120700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50" dirty="0">
                <a:solidFill>
                  <a:srgbClr val="FFFFFF"/>
                </a:solidFill>
              </a:rPr>
              <a:t>YOLOv8m detects vehicles, persons, plates. ONNX Runtime inference @ 640px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3675888" y="2103120"/>
            <a:ext cx="548640" cy="548640"/>
          </a:xfrm>
          <a:prstGeom prst="ellipse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675888" y="210312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3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3401568" y="278892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4B8A6"/>
                </a:solidFill>
              </a:rPr>
              <a:t>Crop Loop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3291840" y="3108960"/>
            <a:ext cx="1316736" cy="1572768"/>
          </a:xfrm>
          <a:prstGeom prst="rect">
            <a:avLst/>
          </a:prstGeom>
          <a:solidFill>
            <a:srgbClr val="1E293B"/>
          </a:solidFill>
          <a:ln w="6350">
            <a:solidFill>
              <a:srgbClr val="334155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346704" y="3163824"/>
            <a:ext cx="120700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50" dirty="0">
                <a:solidFill>
                  <a:srgbClr val="FFFFFF"/>
                </a:solidFill>
              </a:rPr>
              <a:t>For each motorcycle: extract crop → run YOLOv8n helmet/rider model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5111496" y="2103120"/>
            <a:ext cx="548640" cy="548640"/>
          </a:xfrm>
          <a:prstGeom prst="ellipse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111496" y="210312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4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4837176" y="278892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4B8A6"/>
                </a:solidFill>
              </a:rPr>
              <a:t>CV Rules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4727448" y="3108960"/>
            <a:ext cx="1316736" cy="1572768"/>
          </a:xfrm>
          <a:prstGeom prst="rect">
            <a:avLst/>
          </a:prstGeom>
          <a:solidFill>
            <a:srgbClr val="1E293B"/>
          </a:solidFill>
          <a:ln w="6350">
            <a:solidFill>
              <a:srgbClr val="334155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782312" y="3163824"/>
            <a:ext cx="120700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50" dirty="0">
                <a:solidFill>
                  <a:srgbClr val="FFFFFF"/>
                </a:solidFill>
              </a:rPr>
              <a:t>Physics-based rules evaluate optical flow, ROI timers, virtual sensor crossings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6547104" y="2103120"/>
            <a:ext cx="548640" cy="548640"/>
          </a:xfrm>
          <a:prstGeom prst="ellipse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547104" y="210312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5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6272784" y="278892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4B8A6"/>
                </a:solidFill>
              </a:rPr>
              <a:t>OCR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6163056" y="3108960"/>
            <a:ext cx="1316736" cy="1572768"/>
          </a:xfrm>
          <a:prstGeom prst="rect">
            <a:avLst/>
          </a:prstGeom>
          <a:solidFill>
            <a:srgbClr val="1E293B"/>
          </a:solidFill>
          <a:ln w="6350">
            <a:solidFill>
              <a:srgbClr val="334155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217920" y="3163824"/>
            <a:ext cx="120700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50" dirty="0">
                <a:solidFill>
                  <a:srgbClr val="FFFFFF"/>
                </a:solidFill>
              </a:rPr>
              <a:t>Plate crops passed to PaddleOCR → HSRP regex validation → clean plate text</a:t>
            </a:r>
            <a:endParaRPr lang="en-US" sz="950" dirty="0"/>
          </a:p>
        </p:txBody>
      </p:sp>
      <p:sp>
        <p:nvSpPr>
          <p:cNvPr id="31" name="Shape 29"/>
          <p:cNvSpPr/>
          <p:nvPr/>
        </p:nvSpPr>
        <p:spPr>
          <a:xfrm>
            <a:off x="7982712" y="2103120"/>
            <a:ext cx="548640" cy="548640"/>
          </a:xfrm>
          <a:prstGeom prst="ellipse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7982712" y="210312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6</a:t>
            </a:r>
            <a:endParaRPr lang="en-US" sz="1600" dirty="0"/>
          </a:p>
        </p:txBody>
      </p:sp>
      <p:sp>
        <p:nvSpPr>
          <p:cNvPr id="33" name="Text 31"/>
          <p:cNvSpPr/>
          <p:nvPr/>
        </p:nvSpPr>
        <p:spPr>
          <a:xfrm>
            <a:off x="7708392" y="278892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4B8A6"/>
                </a:solidFill>
              </a:rPr>
              <a:t>Violation DB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7598664" y="3108960"/>
            <a:ext cx="1316736" cy="1572768"/>
          </a:xfrm>
          <a:prstGeom prst="rect">
            <a:avLst/>
          </a:prstGeom>
          <a:solidFill>
            <a:srgbClr val="1E293B"/>
          </a:solidFill>
          <a:ln w="6350">
            <a:solidFill>
              <a:srgbClr val="334155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7653528" y="3163824"/>
            <a:ext cx="120700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50" dirty="0">
                <a:solidFill>
                  <a:srgbClr val="FFFFFF"/>
                </a:solidFill>
              </a:rPr>
              <a:t>ViolationInstance persisted to PostgreSQL. Crops uploaded to Cloudflare R2</a:t>
            </a:r>
            <a:endParaRPr lang="en-US" sz="9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09728" cy="685800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28600" y="0"/>
            <a:ext cx="8686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1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07  |  Deployment Stack &amp; Object Storage</a:t>
            </a:r>
            <a:endParaRPr lang="en-US" sz="2100" dirty="0"/>
          </a:p>
        </p:txBody>
      </p:sp>
      <p:sp>
        <p:nvSpPr>
          <p:cNvPr id="5" name="Shape 3"/>
          <p:cNvSpPr/>
          <p:nvPr/>
        </p:nvSpPr>
        <p:spPr>
          <a:xfrm>
            <a:off x="274320" y="822960"/>
            <a:ext cx="4114800" cy="416052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74320" y="822960"/>
            <a:ext cx="64008" cy="4160520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886968"/>
            <a:ext cx="3749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F172A"/>
                </a:solidFill>
              </a:rPr>
              <a:t>Production Deployment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384048" y="1261872"/>
            <a:ext cx="3858768" cy="804672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84048" y="1261872"/>
            <a:ext cx="64008" cy="804672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30352" y="1307592"/>
            <a:ext cx="36393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F172A"/>
                </a:solidFill>
              </a:rPr>
              <a:t>Frontend (Vercel)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530352" y="1554480"/>
            <a:ext cx="36393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75569"/>
                </a:solidFill>
              </a:rPr>
              <a:t>React SPA deployed to Vercel Edge. vercel.json rewrites all routes to index.html for SPA routing. CDN-cached globally.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384048" y="2176272"/>
            <a:ext cx="3858768" cy="804672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84048" y="2176272"/>
            <a:ext cx="64008" cy="804672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30352" y="2221992"/>
            <a:ext cx="36393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F172A"/>
                </a:solidFill>
              </a:rPr>
              <a:t>Backend API (Render)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530352" y="2468880"/>
            <a:ext cx="36393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75569"/>
                </a:solidFill>
              </a:rPr>
              <a:t>FastAPI on Uvicorn behind Render's auto-HTTPS reverse proxy. Docker image built from backend/Dockerfile. Env vars from Render dashboard.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384048" y="3090672"/>
            <a:ext cx="3858768" cy="804672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384048" y="3090672"/>
            <a:ext cx="64008" cy="804672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30352" y="3136392"/>
            <a:ext cx="36393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F172A"/>
                </a:solidFill>
              </a:rPr>
              <a:t>Database (PostgreSQL)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530352" y="3383280"/>
            <a:ext cx="36393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75569"/>
                </a:solidFill>
              </a:rPr>
              <a:t>PostgreSQL 16 (alpine). Managed via Alembic migrations. asyncpg driver for non-blocking query execution. Persistent volume pgdata.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384048" y="4005072"/>
            <a:ext cx="3858768" cy="804672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384048" y="4005072"/>
            <a:ext cx="64008" cy="804672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30352" y="4050792"/>
            <a:ext cx="36393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F172A"/>
                </a:solidFill>
              </a:rPr>
              <a:t>Object Storage (R2)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530352" y="4297680"/>
            <a:ext cx="36393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75569"/>
                </a:solidFill>
              </a:rPr>
              <a:t>Cloudflare R2 via S3-compatible MinIO SDK. AWS_ENDPOINT_URL mapped to R2 endpoint. Zero-egress fees for crop reads from Render workers.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4663440" y="822960"/>
            <a:ext cx="4206240" cy="416052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4663440" y="822960"/>
            <a:ext cx="64008" cy="4160520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846320" y="886968"/>
            <a:ext cx="3840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F172A"/>
                </a:solidFill>
              </a:rPr>
              <a:t>Cloudflare R2 — Zero-Egress Architecture</a:t>
            </a:r>
            <a:endParaRPr lang="en-US" sz="1400" dirty="0"/>
          </a:p>
        </p:txBody>
      </p:sp>
      <p:sp>
        <p:nvSpPr>
          <p:cNvPr id="27" name="Shape 25"/>
          <p:cNvSpPr/>
          <p:nvPr/>
        </p:nvSpPr>
        <p:spPr>
          <a:xfrm>
            <a:off x="4773168" y="1261872"/>
            <a:ext cx="3931920" cy="786384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4773168" y="1261872"/>
            <a:ext cx="64008" cy="786384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919472" y="1307592"/>
            <a:ext cx="3712464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F172A"/>
                </a:solidFill>
              </a:rPr>
              <a:t>S3-Compatible API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4919472" y="1536192"/>
            <a:ext cx="371246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75569"/>
                </a:solidFill>
              </a:rPr>
              <a:t>MinIO Python SDK with AWS_ENDPOINT_URL override. No code changes required vs standard S3.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4773168" y="2157984"/>
            <a:ext cx="3931920" cy="786384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4773168" y="2157984"/>
            <a:ext cx="64008" cy="786384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919472" y="2203704"/>
            <a:ext cx="3712464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F172A"/>
                </a:solidFill>
              </a:rPr>
              <a:t>Zero Egress Fees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4919472" y="2432304"/>
            <a:ext cx="371246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75569"/>
                </a:solidFill>
              </a:rPr>
              <a:t>Render workers fetch thousands of violator crops/day at $0 egress cost. Critical for high-volume deployments.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4773168" y="3054096"/>
            <a:ext cx="3931920" cy="786384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4773168" y="3054096"/>
            <a:ext cx="64008" cy="786384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4919472" y="3099816"/>
            <a:ext cx="3712464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F172A"/>
                </a:solidFill>
              </a:rPr>
              <a:t>Public URL Serving</a:t>
            </a:r>
            <a:endParaRPr lang="en-US" sz="1200" dirty="0"/>
          </a:p>
        </p:txBody>
      </p:sp>
      <p:sp>
        <p:nvSpPr>
          <p:cNvPr id="38" name="Text 36"/>
          <p:cNvSpPr/>
          <p:nvPr/>
        </p:nvSpPr>
        <p:spPr>
          <a:xfrm>
            <a:off x="4919472" y="3328416"/>
            <a:ext cx="371246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75569"/>
                </a:solidFill>
              </a:rPr>
              <a:t>MINIO_PUBLIC_ENDPOINT serves presigned or public violation crop URLs directly to the React dashboard.</a:t>
            </a:r>
            <a:endParaRPr lang="en-US" sz="1000" dirty="0"/>
          </a:p>
        </p:txBody>
      </p:sp>
      <p:sp>
        <p:nvSpPr>
          <p:cNvPr id="39" name="Shape 37"/>
          <p:cNvSpPr/>
          <p:nvPr/>
        </p:nvSpPr>
        <p:spPr>
          <a:xfrm>
            <a:off x="4773168" y="3950208"/>
            <a:ext cx="3931920" cy="786384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4773168" y="3950208"/>
            <a:ext cx="64008" cy="786384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4919472" y="3995928"/>
            <a:ext cx="3712464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F172A"/>
                </a:solidFill>
              </a:rPr>
              <a:t>Bucket: traffic-images</a:t>
            </a:r>
            <a:endParaRPr lang="en-US" sz="1200" dirty="0"/>
          </a:p>
        </p:txBody>
      </p:sp>
      <p:sp>
        <p:nvSpPr>
          <p:cNvPr id="42" name="Text 40"/>
          <p:cNvSpPr/>
          <p:nvPr/>
        </p:nvSpPr>
        <p:spPr>
          <a:xfrm>
            <a:off x="4919472" y="4224528"/>
            <a:ext cx="371246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75569"/>
                </a:solidFill>
              </a:rPr>
              <a:t>Single bucket stores all violation evidence crops. Filename format: {image_id}_{violation_type}.jpg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137160"/>
            <a:ext cx="85953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08  |  Live-Stream Integration  (RTSP / RTMP + Edge Gateway)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20040" y="603504"/>
            <a:ext cx="8595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i="1" dirty="0">
                <a:solidFill>
                  <a:srgbClr val="94A3B8"/>
                </a:solidFill>
              </a:rPr>
              <a:t>Scaling from static image uploads to live CCTV camera feeds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320040" y="960120"/>
            <a:ext cx="4114800" cy="1828800"/>
          </a:xfrm>
          <a:prstGeom prst="rect">
            <a:avLst/>
          </a:prstGeom>
          <a:solidFill>
            <a:srgbClr val="1E293B"/>
          </a:solidFill>
          <a:ln w="6350">
            <a:solidFill>
              <a:srgbClr val="334155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20040" y="960120"/>
            <a:ext cx="64008" cy="1828800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1033272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</a:rPr>
              <a:t>Live Footage Intake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457200" y="1307592"/>
            <a:ext cx="3840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14B8A6"/>
                </a:solidFill>
              </a:rPr>
              <a:t>RTSP / RTMP Protocol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457200" y="1527048"/>
            <a:ext cx="3840480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50" dirty="0">
                <a:solidFill>
                  <a:srgbClr val="FFFFFF"/>
                </a:solidFill>
              </a:rPr>
              <a:t>CCTV cameras stream via standard RTSP (Real-Time Streaming Protocol) or RTMP.</a:t>
            </a:r>
            <a:endParaRPr lang="en-US" sz="1050" dirty="0"/>
          </a:p>
          <a:p>
            <a:pPr marL="0" indent="0" algn="l">
              <a:buNone/>
            </a:pPr>
            <a:endParaRPr lang="en-US" sz="1050" dirty="0"/>
          </a:p>
          <a:p>
            <a:pPr marL="0" indent="0" algn="l">
              <a:buNone/>
            </a:pPr>
            <a:r>
              <a:rPr lang="en-US" sz="1050" dirty="0">
                <a:solidFill>
                  <a:srgbClr val="FFFFFF"/>
                </a:solidFill>
              </a:rPr>
              <a:t>OpenCV VideoCapture(rtsp://...) or GStreamer pipelines consume the stream. Frames decoded at configurable FPS (e.g., 1-5 fps) to control inference load.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320040" y="2971800"/>
            <a:ext cx="4114800" cy="1828800"/>
          </a:xfrm>
          <a:prstGeom prst="rect">
            <a:avLst/>
          </a:prstGeom>
          <a:solidFill>
            <a:srgbClr val="1E293B"/>
          </a:solidFill>
          <a:ln w="6350">
            <a:solidFill>
              <a:srgbClr val="334155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20040" y="2971800"/>
            <a:ext cx="64008" cy="1828800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57200" y="3044952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</a:rPr>
              <a:t>NVIDIA Jetson Edge Gateway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457200" y="3319272"/>
            <a:ext cx="3840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14B8A6"/>
                </a:solidFill>
              </a:rPr>
              <a:t>GStreamer + DeepStream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457200" y="3538728"/>
            <a:ext cx="3840480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50" dirty="0">
                <a:solidFill>
                  <a:srgbClr val="FFFFFF"/>
                </a:solidFill>
              </a:rPr>
              <a:t>Primary frame decoding offloaded to NVIDIA Jetson (Nano/Xavier) devices co-located with cameras.</a:t>
            </a:r>
            <a:endParaRPr lang="en-US" sz="1050" dirty="0"/>
          </a:p>
          <a:p>
            <a:pPr marL="0" indent="0" algn="l">
              <a:buNone/>
            </a:pPr>
            <a:endParaRPr lang="en-US" sz="1050" dirty="0"/>
          </a:p>
          <a:p>
            <a:pPr marL="0" indent="0" algn="l">
              <a:buNone/>
            </a:pPr>
            <a:r>
              <a:rPr lang="en-US" sz="1050" dirty="0">
                <a:solidFill>
                  <a:srgbClr val="FFFFFF"/>
                </a:solidFill>
              </a:rPr>
              <a:t>Jetson runs GStreamer/DeepStream for hardware-accelerated decode. Only triggered violation events + metadata transmitted to Render — drastically reducing cloud bandwidth.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4709160" y="960120"/>
            <a:ext cx="4114800" cy="1828800"/>
          </a:xfrm>
          <a:prstGeom prst="rect">
            <a:avLst/>
          </a:prstGeom>
          <a:solidFill>
            <a:srgbClr val="1E293B"/>
          </a:solidFill>
          <a:ln w="6350">
            <a:solidFill>
              <a:srgbClr val="334155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709160" y="960120"/>
            <a:ext cx="64008" cy="1828800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846320" y="1033272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</a:rPr>
              <a:t>Async Message Queueing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4846320" y="1307592"/>
            <a:ext cx="3840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F97316"/>
                </a:solidFill>
              </a:rPr>
              <a:t>Apache Kafka / RabbitMQ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4846320" y="1527048"/>
            <a:ext cx="3840480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50" dirty="0">
                <a:solidFill>
                  <a:srgbClr val="FFFFFF"/>
                </a:solidFill>
              </a:rPr>
              <a:t>Heavy OCR operations queued via Kafka or RabbitMQ.</a:t>
            </a:r>
            <a:endParaRPr lang="en-US" sz="1050" dirty="0"/>
          </a:p>
          <a:p>
            <a:pPr marL="0" indent="0" algn="l">
              <a:buNone/>
            </a:pPr>
            <a:endParaRPr lang="en-US" sz="1050" dirty="0"/>
          </a:p>
          <a:p>
            <a:pPr marL="0" indent="0" algn="l">
              <a:buNone/>
            </a:pPr>
            <a:r>
              <a:rPr lang="en-US" sz="1050" dirty="0">
                <a:solidFill>
                  <a:srgbClr val="FFFFFF"/>
                </a:solidFill>
              </a:rPr>
              <a:t>Producer: violation events pushed to topic 'ocr-jobs'.</a:t>
            </a:r>
            <a:endParaRPr lang="en-US" sz="1050" dirty="0"/>
          </a:p>
          <a:p>
            <a:pPr marL="0" indent="0" algn="l">
              <a:buNone/>
            </a:pPr>
            <a:r>
              <a:rPr lang="en-US" sz="1050" dirty="0">
                <a:solidFill>
                  <a:srgbClr val="FFFFFF"/>
                </a:solidFill>
              </a:rPr>
              <a:t>Consumers: dedicated OCR worker pods pull jobs.</a:t>
            </a:r>
            <a:endParaRPr lang="en-US" sz="1050" dirty="0"/>
          </a:p>
          <a:p>
            <a:pPr marL="0" indent="0" algn="l">
              <a:buNone/>
            </a:pPr>
            <a:r>
              <a:rPr lang="en-US" sz="1050" dirty="0">
                <a:solidFill>
                  <a:srgbClr val="FFFFFF"/>
                </a:solidFill>
              </a:rPr>
              <a:t>Prevents primary FastAPI thread on Render from blocking during traffic spikes.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4709160" y="2971800"/>
            <a:ext cx="4114800" cy="1828800"/>
          </a:xfrm>
          <a:prstGeom prst="rect">
            <a:avLst/>
          </a:prstGeom>
          <a:solidFill>
            <a:srgbClr val="1E293B"/>
          </a:solidFill>
          <a:ln w="6350">
            <a:solidFill>
              <a:srgbClr val="334155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4709160" y="2971800"/>
            <a:ext cx="64008" cy="1828800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846320" y="3044952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</a:rPr>
              <a:t>Auto-Scaling Workers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4846320" y="3319272"/>
            <a:ext cx="3840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F97316"/>
                </a:solidFill>
              </a:rPr>
              <a:t>Docker + K8s / Render Auto-Scale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4846320" y="3538728"/>
            <a:ext cx="3840480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50" dirty="0">
                <a:solidFill>
                  <a:srgbClr val="FFFFFF"/>
                </a:solidFill>
              </a:rPr>
              <a:t>Containerized inference workers (Docker) deployed via Kubernetes HPA or Render's auto-scaling groups.</a:t>
            </a:r>
            <a:endParaRPr lang="en-US" sz="1050" dirty="0"/>
          </a:p>
          <a:p>
            <a:pPr marL="0" indent="0" algn="l">
              <a:buNone/>
            </a:pPr>
            <a:endParaRPr lang="en-US" sz="1050" dirty="0"/>
          </a:p>
          <a:p>
            <a:pPr marL="0" indent="0" algn="l">
              <a:buNone/>
            </a:pPr>
            <a:r>
              <a:rPr lang="en-US" sz="1050" dirty="0">
                <a:solidFill>
                  <a:srgbClr val="FFFFFF"/>
                </a:solidFill>
              </a:rPr>
              <a:t>Scale metric: Kafka consumer lag / queue depth.</a:t>
            </a:r>
            <a:endParaRPr lang="en-US" sz="1050" dirty="0"/>
          </a:p>
          <a:p>
            <a:pPr marL="0" indent="0" algn="l">
              <a:buNone/>
            </a:pPr>
            <a:r>
              <a:rPr lang="en-US" sz="1050" dirty="0">
                <a:solidFill>
                  <a:srgbClr val="FFFFFF"/>
                </a:solidFill>
              </a:rPr>
              <a:t>Scale-out triggers at lag &gt; 100 messages.</a:t>
            </a:r>
            <a:endParaRPr lang="en-US" sz="1050" dirty="0"/>
          </a:p>
          <a:p>
            <a:pPr marL="0" indent="0" algn="l">
              <a:buNone/>
            </a:pPr>
            <a:r>
              <a:rPr lang="en-US" sz="1050" dirty="0">
                <a:solidFill>
                  <a:srgbClr val="FFFFFF"/>
                </a:solidFill>
              </a:rPr>
              <a:t>Scale-in after 5-minute cooldown to avoid thrashing.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320040" y="4800600"/>
            <a:ext cx="8503920" cy="256032"/>
          </a:xfrm>
          <a:prstGeom prst="rect">
            <a:avLst/>
          </a:prstGeom>
          <a:solidFill>
            <a:srgbClr val="334155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65760" y="4800600"/>
            <a:ext cx="8412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i="1" dirty="0">
                <a:solidFill>
                  <a:srgbClr val="94A3B8"/>
                </a:solidFill>
              </a:rPr>
              <a:t>Edge-Cloud Hybrid Architecture: Jetson (decode + trigger) → Kafka → Render (OCR + DB) → R2 (crops)</a:t>
            </a:r>
            <a:endParaRPr lang="en-US" sz="9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09728" cy="685800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28600" y="0"/>
            <a:ext cx="8686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10  |  Why YOLO? Why YOLOv8m &amp; YOLOv8n?</a:t>
            </a:r>
            <a:endParaRPr lang="en-US" sz="2000" dirty="0"/>
          </a:p>
        </p:txBody>
      </p:sp>
      <p:graphicFrame>
        <p:nvGraphicFramePr>
          <p:cNvPr id="5" name="Chart 0"/>
          <p:cNvGraphicFramePr/>
          <p:nvPr/>
        </p:nvGraphicFramePr>
        <p:xfrm>
          <a:off x="274320" y="777240"/>
          <a:ext cx="5029200" cy="28346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6" name="Text 3"/>
          <p:cNvSpPr/>
          <p:nvPr/>
        </p:nvSpPr>
        <p:spPr>
          <a:xfrm>
            <a:off x="274320" y="3639312"/>
            <a:ext cx="5029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i="1" dirty="0">
                <a:solidFill>
                  <a:srgbClr val="94A3B8"/>
                </a:solidFill>
              </a:rPr>
              <a:t>mAP50 Comparison — Candidate Architectures (COCO val2017)</a:t>
            </a:r>
            <a:endParaRPr lang="en-US" sz="950" dirty="0"/>
          </a:p>
        </p:txBody>
      </p:sp>
      <p:sp>
        <p:nvSpPr>
          <p:cNvPr id="7" name="Shape 4"/>
          <p:cNvSpPr/>
          <p:nvPr/>
        </p:nvSpPr>
        <p:spPr>
          <a:xfrm>
            <a:off x="5532120" y="777240"/>
            <a:ext cx="3383280" cy="3090672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8" name="Shape 5"/>
          <p:cNvSpPr/>
          <p:nvPr/>
        </p:nvSpPr>
        <p:spPr>
          <a:xfrm>
            <a:off x="5532120" y="777240"/>
            <a:ext cx="64008" cy="3090672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5687568" y="850392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F172A"/>
                </a:solidFill>
              </a:rPr>
              <a:t>Selection Rationale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5650992" y="1207008"/>
            <a:ext cx="3154680" cy="457200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5687568" y="1243584"/>
            <a:ext cx="30906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b="1" dirty="0">
                <a:solidFill>
                  <a:srgbClr val="475569"/>
                </a:solidFill>
              </a:rPr>
              <a:t>Single-stage: </a:t>
            </a:r>
            <a:r>
              <a:rPr lang="en-US" sz="950" dirty="0">
                <a:solidFill>
                  <a:srgbClr val="475569"/>
                </a:solidFill>
              </a:rPr>
              <a:t>No region proposal overhead — real-time inference possible at 1-5 fps on CPU ONNX</a:t>
            </a:r>
            <a:endParaRPr lang="en-US" sz="950" dirty="0"/>
          </a:p>
        </p:txBody>
      </p:sp>
      <p:sp>
        <p:nvSpPr>
          <p:cNvPr id="12" name="Shape 9"/>
          <p:cNvSpPr/>
          <p:nvPr/>
        </p:nvSpPr>
        <p:spPr>
          <a:xfrm>
            <a:off x="5650992" y="1719072"/>
            <a:ext cx="3154680" cy="457200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5687568" y="1755648"/>
            <a:ext cx="30906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b="1" dirty="0">
                <a:solidFill>
                  <a:srgbClr val="475569"/>
                </a:solidFill>
              </a:rPr>
              <a:t>Anchor-free: </a:t>
            </a:r>
            <a:r>
              <a:rPr lang="en-US" sz="950" dirty="0">
                <a:solidFill>
                  <a:srgbClr val="475569"/>
                </a:solidFill>
              </a:rPr>
              <a:t>YOLOv8 decoupled head removes prior-box tuning; easier fine-tuning on custom classes</a:t>
            </a:r>
            <a:endParaRPr lang="en-US" sz="950" dirty="0"/>
          </a:p>
        </p:txBody>
      </p:sp>
      <p:sp>
        <p:nvSpPr>
          <p:cNvPr id="14" name="Shape 11"/>
          <p:cNvSpPr/>
          <p:nvPr/>
        </p:nvSpPr>
        <p:spPr>
          <a:xfrm>
            <a:off x="5650992" y="2231136"/>
            <a:ext cx="3154680" cy="457200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5687568" y="2267712"/>
            <a:ext cx="30906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b="1" dirty="0">
                <a:solidFill>
                  <a:srgbClr val="475569"/>
                </a:solidFill>
              </a:rPr>
              <a:t>ONNX export: </a:t>
            </a:r>
            <a:r>
              <a:rPr lang="en-US" sz="950" dirty="0">
                <a:solidFill>
                  <a:srgbClr val="475569"/>
                </a:solidFill>
              </a:rPr>
              <a:t>Ultralytics natively exports to ONNX; runs on onnxruntime without PyTorch in prod</a:t>
            </a:r>
            <a:endParaRPr lang="en-US" sz="950" dirty="0"/>
          </a:p>
        </p:txBody>
      </p:sp>
      <p:sp>
        <p:nvSpPr>
          <p:cNvPr id="16" name="Shape 13"/>
          <p:cNvSpPr/>
          <p:nvPr/>
        </p:nvSpPr>
        <p:spPr>
          <a:xfrm>
            <a:off x="5650992" y="2743200"/>
            <a:ext cx="3154680" cy="457200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5687568" y="2779776"/>
            <a:ext cx="30906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b="1" dirty="0">
                <a:solidFill>
                  <a:srgbClr val="475569"/>
                </a:solidFill>
              </a:rPr>
              <a:t>YOLOv8m for detection: </a:t>
            </a:r>
            <a:r>
              <a:rPr lang="en-US" sz="950" dirty="0">
                <a:solidFill>
                  <a:srgbClr val="475569"/>
                </a:solidFill>
              </a:rPr>
              <a:t>50.2 mAP50 hits the sweet spot: better accuracy than Nano, fits Render 512MB RAM with ONNX</a:t>
            </a:r>
            <a:endParaRPr lang="en-US" sz="950" dirty="0"/>
          </a:p>
        </p:txBody>
      </p:sp>
      <p:sp>
        <p:nvSpPr>
          <p:cNvPr id="18" name="Shape 15"/>
          <p:cNvSpPr/>
          <p:nvPr/>
        </p:nvSpPr>
        <p:spPr>
          <a:xfrm>
            <a:off x="5650992" y="3255264"/>
            <a:ext cx="3154680" cy="457200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5687568" y="3291840"/>
            <a:ext cx="30906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b="1" dirty="0">
                <a:solidFill>
                  <a:srgbClr val="475569"/>
                </a:solidFill>
              </a:rPr>
              <a:t>YOLOv8n for helmet: </a:t>
            </a:r>
            <a:r>
              <a:rPr lang="en-US" sz="950" dirty="0">
                <a:solidFill>
                  <a:srgbClr val="475569"/>
                </a:solidFill>
              </a:rPr>
              <a:t>3.2M params — ultra-fast on motorcycle crops; lower latency per-crop in the batch loop</a:t>
            </a:r>
            <a:endParaRPr lang="en-US" sz="950" dirty="0"/>
          </a:p>
        </p:txBody>
      </p:sp>
      <p:sp>
        <p:nvSpPr>
          <p:cNvPr id="20" name="Text 17"/>
          <p:cNvSpPr/>
          <p:nvPr/>
        </p:nvSpPr>
        <p:spPr>
          <a:xfrm>
            <a:off x="274320" y="3931920"/>
            <a:ext cx="8595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F172A"/>
                </a:solidFill>
              </a:rPr>
              <a:t>Inference Latency vs. Accuracy Trade-off</a:t>
            </a:r>
            <a:endParaRPr lang="en-US" sz="1200" dirty="0"/>
          </a:p>
        </p:txBody>
      </p:sp>
      <p:sp>
        <p:nvSpPr>
          <p:cNvPr id="21" name="Shape 18"/>
          <p:cNvSpPr/>
          <p:nvPr/>
        </p:nvSpPr>
        <p:spPr>
          <a:xfrm>
            <a:off x="274320" y="4251960"/>
            <a:ext cx="2057400" cy="73152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22" name="Text 19"/>
          <p:cNvSpPr/>
          <p:nvPr/>
        </p:nvSpPr>
        <p:spPr>
          <a:xfrm>
            <a:off x="274320" y="4270248"/>
            <a:ext cx="2057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97316"/>
                </a:solidFill>
              </a:rPr>
              <a:t>23 ms</a:t>
            </a:r>
            <a:endParaRPr lang="en-US" sz="2200" dirty="0"/>
          </a:p>
        </p:txBody>
      </p:sp>
      <p:sp>
        <p:nvSpPr>
          <p:cNvPr id="23" name="Text 20"/>
          <p:cNvSpPr/>
          <p:nvPr/>
        </p:nvSpPr>
        <p:spPr>
          <a:xfrm>
            <a:off x="274320" y="4617720"/>
            <a:ext cx="2057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50" dirty="0">
                <a:solidFill>
                  <a:srgbClr val="475569"/>
                </a:solidFill>
              </a:rPr>
              <a:t>YOLOv8n</a:t>
            </a:r>
            <a:endParaRPr lang="en-US" sz="950" dirty="0"/>
          </a:p>
          <a:p>
            <a:pPr marL="0" indent="0" algn="ctr">
              <a:buNone/>
            </a:pPr>
            <a:r>
              <a:rPr lang="en-US" sz="950" dirty="0">
                <a:solidFill>
                  <a:srgbClr val="475569"/>
                </a:solidFill>
              </a:rPr>
              <a:t>(CPU ONNX)</a:t>
            </a:r>
            <a:endParaRPr lang="en-US" sz="950" dirty="0"/>
          </a:p>
        </p:txBody>
      </p:sp>
      <p:sp>
        <p:nvSpPr>
          <p:cNvPr id="24" name="Shape 21"/>
          <p:cNvSpPr/>
          <p:nvPr/>
        </p:nvSpPr>
        <p:spPr>
          <a:xfrm>
            <a:off x="2468880" y="4251960"/>
            <a:ext cx="2057400" cy="73152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25" name="Text 22"/>
          <p:cNvSpPr/>
          <p:nvPr/>
        </p:nvSpPr>
        <p:spPr>
          <a:xfrm>
            <a:off x="2468880" y="4270248"/>
            <a:ext cx="2057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14B8A6"/>
                </a:solidFill>
              </a:rPr>
              <a:t>67 ms</a:t>
            </a:r>
            <a:endParaRPr lang="en-US" sz="2200" dirty="0"/>
          </a:p>
        </p:txBody>
      </p:sp>
      <p:sp>
        <p:nvSpPr>
          <p:cNvPr id="26" name="Text 23"/>
          <p:cNvSpPr/>
          <p:nvPr/>
        </p:nvSpPr>
        <p:spPr>
          <a:xfrm>
            <a:off x="2468880" y="4617720"/>
            <a:ext cx="2057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50" dirty="0">
                <a:solidFill>
                  <a:srgbClr val="475569"/>
                </a:solidFill>
              </a:rPr>
              <a:t>YOLOv8m</a:t>
            </a:r>
            <a:endParaRPr lang="en-US" sz="950" dirty="0"/>
          </a:p>
          <a:p>
            <a:pPr marL="0" indent="0" algn="ctr">
              <a:buNone/>
            </a:pPr>
            <a:r>
              <a:rPr lang="en-US" sz="950" dirty="0">
                <a:solidFill>
                  <a:srgbClr val="475569"/>
                </a:solidFill>
              </a:rPr>
              <a:t>(CPU ONNX)</a:t>
            </a:r>
            <a:endParaRPr lang="en-US" sz="950" dirty="0"/>
          </a:p>
        </p:txBody>
      </p:sp>
      <p:sp>
        <p:nvSpPr>
          <p:cNvPr id="27" name="Shape 24"/>
          <p:cNvSpPr/>
          <p:nvPr/>
        </p:nvSpPr>
        <p:spPr>
          <a:xfrm>
            <a:off x="4663440" y="4251960"/>
            <a:ext cx="2057400" cy="73152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28" name="Text 25"/>
          <p:cNvSpPr/>
          <p:nvPr/>
        </p:nvSpPr>
        <p:spPr>
          <a:xfrm>
            <a:off x="4663440" y="4270248"/>
            <a:ext cx="2057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94A3B8"/>
                </a:solidFill>
              </a:rPr>
              <a:t>850 ms</a:t>
            </a:r>
            <a:endParaRPr lang="en-US" sz="2200" dirty="0"/>
          </a:p>
        </p:txBody>
      </p:sp>
      <p:sp>
        <p:nvSpPr>
          <p:cNvPr id="29" name="Text 26"/>
          <p:cNvSpPr/>
          <p:nvPr/>
        </p:nvSpPr>
        <p:spPr>
          <a:xfrm>
            <a:off x="4663440" y="4617720"/>
            <a:ext cx="2057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50" dirty="0">
                <a:solidFill>
                  <a:srgbClr val="475569"/>
                </a:solidFill>
              </a:rPr>
              <a:t>Faster R-CNN</a:t>
            </a:r>
            <a:endParaRPr lang="en-US" sz="950" dirty="0"/>
          </a:p>
          <a:p>
            <a:pPr marL="0" indent="0" algn="ctr">
              <a:buNone/>
            </a:pPr>
            <a:r>
              <a:rPr lang="en-US" sz="950" dirty="0">
                <a:solidFill>
                  <a:srgbClr val="475569"/>
                </a:solidFill>
              </a:rPr>
              <a:t>(CPU)</a:t>
            </a:r>
            <a:endParaRPr lang="en-US" sz="950" dirty="0"/>
          </a:p>
        </p:txBody>
      </p:sp>
      <p:sp>
        <p:nvSpPr>
          <p:cNvPr id="30" name="Shape 27"/>
          <p:cNvSpPr/>
          <p:nvPr/>
        </p:nvSpPr>
        <p:spPr>
          <a:xfrm>
            <a:off x="6858000" y="4251960"/>
            <a:ext cx="2057400" cy="73152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31" name="Text 28"/>
          <p:cNvSpPr/>
          <p:nvPr/>
        </p:nvSpPr>
        <p:spPr>
          <a:xfrm>
            <a:off x="6858000" y="4270248"/>
            <a:ext cx="2057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94A3B8"/>
                </a:solidFill>
              </a:rPr>
              <a:t>9 ms</a:t>
            </a:r>
            <a:endParaRPr lang="en-US" sz="2200" dirty="0"/>
          </a:p>
        </p:txBody>
      </p:sp>
      <p:sp>
        <p:nvSpPr>
          <p:cNvPr id="32" name="Text 29"/>
          <p:cNvSpPr/>
          <p:nvPr/>
        </p:nvSpPr>
        <p:spPr>
          <a:xfrm>
            <a:off x="6858000" y="4617720"/>
            <a:ext cx="2057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50" dirty="0">
                <a:solidFill>
                  <a:srgbClr val="475569"/>
                </a:solidFill>
              </a:rPr>
              <a:t>RT-DETR-L</a:t>
            </a:r>
            <a:endParaRPr lang="en-US" sz="950" dirty="0"/>
          </a:p>
          <a:p>
            <a:pPr marL="0" indent="0" algn="ctr">
              <a:buNone/>
            </a:pPr>
            <a:r>
              <a:rPr lang="en-US" sz="950" dirty="0">
                <a:solidFill>
                  <a:srgbClr val="475569"/>
                </a:solidFill>
              </a:rPr>
              <a:t>(GPU TRT)</a:t>
            </a:r>
            <a:endParaRPr lang="en-US" sz="9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164592"/>
            <a:ext cx="8503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11  |  Scaling Roadmap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320040" y="621792"/>
            <a:ext cx="8503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i="1" dirty="0">
                <a:solidFill>
                  <a:srgbClr val="94A3B8"/>
                </a:solidFill>
              </a:rPr>
              <a:t>Phase-wise evolution from current MVP to production-grade city-scale deployment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347472" y="1005840"/>
            <a:ext cx="2788920" cy="3931920"/>
          </a:xfrm>
          <a:prstGeom prst="rect">
            <a:avLst/>
          </a:prstGeom>
          <a:solidFill>
            <a:srgbClr val="1E293B"/>
          </a:solidFill>
          <a:ln w="6350">
            <a:solidFill>
              <a:srgbClr val="334155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47472" y="1005840"/>
            <a:ext cx="2788920" cy="594360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1143000"/>
            <a:ext cx="25786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</a:rPr>
              <a:t>Phase 1 (Current Prototype)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1691640"/>
            <a:ext cx="257860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</a:rPr>
              <a:t>Current MVP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457200" y="2212848"/>
            <a:ext cx="182880" cy="182880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13232" y="2103120"/>
            <a:ext cx="22860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FFFFFF"/>
                </a:solidFill>
              </a:rPr>
              <a:t>YOLOv8m + YOLOv8n ONNX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457200" y="2724912"/>
            <a:ext cx="182880" cy="182880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13232" y="2615184"/>
            <a:ext cx="22860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FFFFFF"/>
                </a:solidFill>
              </a:rPr>
              <a:t>FastAPI on Render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457200" y="3236976"/>
            <a:ext cx="182880" cy="182880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13232" y="3127248"/>
            <a:ext cx="22860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FFFFFF"/>
                </a:solidFill>
              </a:rPr>
              <a:t>PaddleOCR + HSRP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457200" y="3749040"/>
            <a:ext cx="182880" cy="182880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13232" y="3639312"/>
            <a:ext cx="22860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FFFFFF"/>
                </a:solidFill>
              </a:rPr>
              <a:t>Cloudflare R2 storage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457200" y="4261104"/>
            <a:ext cx="182880" cy="182880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713232" y="4151376"/>
            <a:ext cx="22860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FFFFFF"/>
                </a:solidFill>
              </a:rPr>
              <a:t>React dashboard (Vercel)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3273552" y="1005840"/>
            <a:ext cx="2788920" cy="3931920"/>
          </a:xfrm>
          <a:prstGeom prst="rect">
            <a:avLst/>
          </a:prstGeom>
          <a:solidFill>
            <a:srgbClr val="1E293B"/>
          </a:solidFill>
          <a:ln w="6350">
            <a:solidFill>
              <a:srgbClr val="334155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3273552" y="1005840"/>
            <a:ext cx="2788920" cy="594360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383280" y="1143000"/>
            <a:ext cx="25786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</a:rPr>
              <a:t>Phase 2 (In Progress)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3383280" y="1691640"/>
            <a:ext cx="257860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</a:rPr>
              <a:t>Live Stream Ready</a:t>
            </a:r>
            <a:endParaRPr lang="en-US" sz="1400" dirty="0"/>
          </a:p>
        </p:txBody>
      </p:sp>
      <p:sp>
        <p:nvSpPr>
          <p:cNvPr id="25" name="Shape 23"/>
          <p:cNvSpPr/>
          <p:nvPr/>
        </p:nvSpPr>
        <p:spPr>
          <a:xfrm>
            <a:off x="3383280" y="2212848"/>
            <a:ext cx="182880" cy="182880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639312" y="2103120"/>
            <a:ext cx="22860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FFFFFF"/>
                </a:solidFill>
              </a:rPr>
              <a:t>RTSP/RTMP intake</a:t>
            </a:r>
            <a:endParaRPr lang="en-US" sz="1050" dirty="0"/>
          </a:p>
        </p:txBody>
      </p:sp>
      <p:sp>
        <p:nvSpPr>
          <p:cNvPr id="27" name="Shape 25"/>
          <p:cNvSpPr/>
          <p:nvPr/>
        </p:nvSpPr>
        <p:spPr>
          <a:xfrm>
            <a:off x="3383280" y="2724912"/>
            <a:ext cx="182880" cy="182880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3639312" y="2615184"/>
            <a:ext cx="22860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FFFFFF"/>
                </a:solidFill>
              </a:rPr>
              <a:t>NVIDIA Jetson edge nodes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3383280" y="3236976"/>
            <a:ext cx="182880" cy="182880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3639312" y="3127248"/>
            <a:ext cx="22860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FFFFFF"/>
                </a:solidFill>
              </a:rPr>
              <a:t>GStreamer frame decode</a:t>
            </a:r>
            <a:endParaRPr lang="en-US" sz="1050" dirty="0"/>
          </a:p>
        </p:txBody>
      </p:sp>
      <p:sp>
        <p:nvSpPr>
          <p:cNvPr id="31" name="Shape 29"/>
          <p:cNvSpPr/>
          <p:nvPr/>
        </p:nvSpPr>
        <p:spPr>
          <a:xfrm>
            <a:off x="3383280" y="3749040"/>
            <a:ext cx="182880" cy="182880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3639312" y="3639312"/>
            <a:ext cx="22860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FFFFFF"/>
                </a:solidFill>
              </a:rPr>
              <a:t>Kafka OCR job queue</a:t>
            </a:r>
            <a:endParaRPr lang="en-US" sz="1050" dirty="0"/>
          </a:p>
        </p:txBody>
      </p:sp>
      <p:sp>
        <p:nvSpPr>
          <p:cNvPr id="33" name="Shape 31"/>
          <p:cNvSpPr/>
          <p:nvPr/>
        </p:nvSpPr>
        <p:spPr>
          <a:xfrm>
            <a:off x="3383280" y="4261104"/>
            <a:ext cx="182880" cy="182880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3639312" y="4151376"/>
            <a:ext cx="22860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FFFFFF"/>
                </a:solidFill>
              </a:rPr>
              <a:t>ByteTrack multi-object tracking</a:t>
            </a:r>
            <a:endParaRPr lang="en-US" sz="1050" dirty="0"/>
          </a:p>
        </p:txBody>
      </p:sp>
      <p:sp>
        <p:nvSpPr>
          <p:cNvPr id="35" name="Shape 33"/>
          <p:cNvSpPr/>
          <p:nvPr/>
        </p:nvSpPr>
        <p:spPr>
          <a:xfrm>
            <a:off x="6199632" y="1005840"/>
            <a:ext cx="2788920" cy="3931920"/>
          </a:xfrm>
          <a:prstGeom prst="rect">
            <a:avLst/>
          </a:prstGeom>
          <a:solidFill>
            <a:srgbClr val="1E293B"/>
          </a:solidFill>
          <a:ln w="6350">
            <a:solidFill>
              <a:srgbClr val="334155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6199632" y="1005840"/>
            <a:ext cx="2788920" cy="59436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6312747" y="1143000"/>
            <a:ext cx="25786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</a:rPr>
              <a:t>Phase 3 (Future)</a:t>
            </a:r>
            <a:endParaRPr lang="en-US" sz="1200" dirty="0"/>
          </a:p>
        </p:txBody>
      </p:sp>
      <p:sp>
        <p:nvSpPr>
          <p:cNvPr id="39" name="Text 37"/>
          <p:cNvSpPr/>
          <p:nvPr/>
        </p:nvSpPr>
        <p:spPr>
          <a:xfrm>
            <a:off x="6309360" y="1691640"/>
            <a:ext cx="257860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</a:rPr>
              <a:t>Auto-Scale Production</a:t>
            </a:r>
            <a:endParaRPr lang="en-US" sz="1400" dirty="0"/>
          </a:p>
        </p:txBody>
      </p:sp>
      <p:sp>
        <p:nvSpPr>
          <p:cNvPr id="40" name="Shape 38"/>
          <p:cNvSpPr/>
          <p:nvPr/>
        </p:nvSpPr>
        <p:spPr>
          <a:xfrm>
            <a:off x="6309360" y="2212848"/>
            <a:ext cx="182880" cy="18288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6565392" y="2103120"/>
            <a:ext cx="22860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FFFFFF"/>
                </a:solidFill>
              </a:rPr>
              <a:t>K8s HPA on queue depth</a:t>
            </a:r>
            <a:endParaRPr lang="en-US" sz="1050" dirty="0"/>
          </a:p>
        </p:txBody>
      </p:sp>
      <p:sp>
        <p:nvSpPr>
          <p:cNvPr id="42" name="Shape 40"/>
          <p:cNvSpPr/>
          <p:nvPr/>
        </p:nvSpPr>
        <p:spPr>
          <a:xfrm>
            <a:off x="6309360" y="2724912"/>
            <a:ext cx="182880" cy="18288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6565392" y="2615184"/>
            <a:ext cx="22860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FFFFFF"/>
                </a:solidFill>
              </a:rPr>
              <a:t>Multi-camera concurrent streams</a:t>
            </a:r>
            <a:endParaRPr lang="en-US" sz="1050" dirty="0"/>
          </a:p>
        </p:txBody>
      </p:sp>
      <p:sp>
        <p:nvSpPr>
          <p:cNvPr id="44" name="Shape 42"/>
          <p:cNvSpPr/>
          <p:nvPr/>
        </p:nvSpPr>
        <p:spPr>
          <a:xfrm>
            <a:off x="6309360" y="3236976"/>
            <a:ext cx="182880" cy="18288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6565392" y="3127248"/>
            <a:ext cx="22860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FFFFFF"/>
                </a:solidFill>
              </a:rPr>
              <a:t>OpenCV wrong-side driving</a:t>
            </a:r>
            <a:endParaRPr lang="en-US" sz="1050" dirty="0"/>
          </a:p>
        </p:txBody>
      </p:sp>
      <p:sp>
        <p:nvSpPr>
          <p:cNvPr id="46" name="Shape 44"/>
          <p:cNvSpPr/>
          <p:nvPr/>
        </p:nvSpPr>
        <p:spPr>
          <a:xfrm>
            <a:off x="6309360" y="3749040"/>
            <a:ext cx="182880" cy="18288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6565392" y="3639312"/>
            <a:ext cx="22860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FFFFFF"/>
                </a:solidFill>
              </a:rPr>
              <a:t>Stop line + parking CV rules</a:t>
            </a:r>
            <a:endParaRPr lang="en-US" sz="1050" dirty="0"/>
          </a:p>
        </p:txBody>
      </p:sp>
      <p:sp>
        <p:nvSpPr>
          <p:cNvPr id="48" name="Shape 46"/>
          <p:cNvSpPr/>
          <p:nvPr/>
        </p:nvSpPr>
        <p:spPr>
          <a:xfrm>
            <a:off x="6309360" y="4261104"/>
            <a:ext cx="182880" cy="18288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6565392" y="4151376"/>
            <a:ext cx="22860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FFFFFF"/>
                </a:solidFill>
              </a:rPr>
              <a:t>Analytics dashboard v2</a:t>
            </a:r>
            <a:endParaRPr lang="en-US" sz="10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583680" y="-731520"/>
            <a:ext cx="3840480" cy="3840480"/>
          </a:xfrm>
          <a:prstGeom prst="ellipse">
            <a:avLst/>
          </a:prstGeom>
          <a:solidFill>
            <a:srgbClr val="F97316">
              <a:alpha val="12000"/>
            </a:srgbClr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005840"/>
            <a:ext cx="7772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5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Thank You</a:t>
            </a:r>
            <a:endParaRPr lang="en-US" sz="5200" dirty="0"/>
          </a:p>
        </p:txBody>
      </p:sp>
      <p:sp>
        <p:nvSpPr>
          <p:cNvPr id="6" name="Shape 4"/>
          <p:cNvSpPr/>
          <p:nvPr/>
        </p:nvSpPr>
        <p:spPr>
          <a:xfrm>
            <a:off x="457200" y="2423160"/>
            <a:ext cx="4114800" cy="36576"/>
          </a:xfrm>
          <a:prstGeom prst="rect">
            <a:avLst/>
          </a:prstGeom>
          <a:solidFill>
            <a:srgbClr val="334155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57200" y="2688336"/>
            <a:ext cx="201168" cy="201168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49808" y="2578608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</a:rPr>
              <a:t>5 violation types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749808" y="283464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</a:rPr>
              <a:t>Helmet · Triple Riding · Wrong-Side · Parking · Stop-Line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457200" y="3255264"/>
            <a:ext cx="201168" cy="201168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49808" y="3145536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</a:rPr>
              <a:t>Dual YOLO models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749808" y="3401568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</a:rPr>
              <a:t>YOLOv8m (detection) + YOLOv8n (compliance)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457200" y="3822192"/>
            <a:ext cx="201168" cy="201168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49808" y="3712464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</a:rPr>
              <a:t>Full OCR pipeline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749808" y="3968496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</a:rPr>
              <a:t>PaddleOCR + Real-ESRGAN + HSRP regex validation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457200" y="4389120"/>
            <a:ext cx="201168" cy="201168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49808" y="4279392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</a:rPr>
              <a:t>Production-ready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749808" y="4535424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</a:rPr>
              <a:t>Vercel + Render + Cloudflare R2 + PostgreSQL 16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457200" y="4754880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i="1" dirty="0">
                <a:solidFill>
                  <a:srgbClr val="334155"/>
                </a:solidFill>
              </a:rPr>
              <a:t>TrafficVision AI  |  github.com/trafficvision-ai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1425</TotalTime>
  <Words>1844</Words>
  <Application>Microsoft Office PowerPoint</Application>
  <PresentationFormat>On-screen Show (16:9)</PresentationFormat>
  <Paragraphs>314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7" baseType="lpstr">
      <vt:lpstr>Arial</vt:lpstr>
      <vt:lpstr>Arial Black</vt:lpstr>
      <vt:lpstr>Consolas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Smart Traffic Violation Detection &amp; Automated Pipeline</dc:title>
  <dc:subject>PptxGenJS Presentation</dc:subject>
  <dc:creator>TrafficVision AI</dc:creator>
  <cp:lastModifiedBy>Sudarshan K</cp:lastModifiedBy>
  <cp:revision>3</cp:revision>
  <dcterms:created xsi:type="dcterms:W3CDTF">2026-06-21T17:32:14Z</dcterms:created>
  <dcterms:modified xsi:type="dcterms:W3CDTF">2026-06-22T17:42:44Z</dcterms:modified>
</cp:coreProperties>
</file>